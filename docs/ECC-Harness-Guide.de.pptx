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B6D4"/>
                </a:solidFill>
                <a:latin typeface="Calibri"/>
              </a:rPr>
              <a:t>ENGINEERING HARNESS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Calibri"/>
              </a:rPr>
              <a:t>ECC × BestPractice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2000" b="1">
                <a:solidFill>
                  <a:srgbClr val="FFFFFF"/>
                </a:solidFill>
                <a:latin typeface="Calibri"/>
              </a:rPr>
              <a:t>Das fusionierte, VPS-weite Claude-Code-Harness</a:t>
            </a:r>
          </a:p>
          <a:p>
            <a:pPr/>
            <a:r>
              <a:rPr sz="1400" b="0">
                <a:solidFill>
                  <a:srgbClr val="C7D2FE"/>
                </a:solidFill>
                <a:latin typeface="Calibri"/>
              </a:rPr>
              <a:t>Global aktiv in ~/.claude · ECC 2.0.0-rc.1 (core) + RPI-Workflow · RTK-sicher</a:t>
            </a:r>
          </a:p>
          <a:p>
            <a:pPr/>
            <a:r>
              <a:rPr sz="1400" b="0">
                <a:solidFill>
                  <a:srgbClr val="C7D2FE"/>
                </a:solidFill>
                <a:latin typeface="Calibri"/>
              </a:rPr>
              <a:t>Quelle / Re-Install:  ./install-vps.sh   ·   Guides: @affaanmustafa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12E81"/>
                </a:solidFill>
                <a:latin typeface="Calibri"/>
              </a:rPr>
              <a:t>1 · Was ist dieses Harness?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800" b="1">
                <a:solidFill>
                  <a:srgbClr val="312E81"/>
                </a:solidFill>
                <a:latin typeface="Calibri"/>
              </a:rPr>
              <a:t>Fusion zweier Systeme — Fokus auf ECC:</a:t>
            </a:r>
          </a:p>
          <a:p>
            <a:pPr lvl="1"/>
            <a:r>
              <a:rPr sz="1500" b="0">
                <a:solidFill>
                  <a:srgbClr val="1F2937"/>
                </a:solidFill>
                <a:latin typeface="Calibri"/>
              </a:rPr>
              <a:t>ECC (Everything Claude Code) — die Engine: 63 Agents, ~79 Skills, 79 Commands, 21 Rule-Packs,</a:t>
            </a:r>
          </a:p>
          <a:p>
            <a:pPr lvl="2"/>
            <a:r>
              <a:rPr sz="1500" b="0">
                <a:solidFill>
                  <a:srgbClr val="1F2937"/>
                </a:solidFill>
                <a:latin typeface="Calibri"/>
              </a:rPr>
              <a:t>manifest-Installer, Continuous Learning, Security-Scanning.</a:t>
            </a:r>
          </a:p>
          <a:p>
            <a:pPr lvl="1"/>
            <a:r>
              <a:rPr sz="1500" b="0">
                <a:solidFill>
                  <a:srgbClr val="1F2937"/>
                </a:solidFill>
                <a:latin typeface="Calibri"/>
              </a:rPr>
              <a:t>BestPractice-Extras — RPI-Workflow, /adopt-project, state/-Pattern, Karpathy-Prinzipien.</a:t>
            </a:r>
          </a:p>
          <a:p>
            <a:pPr/>
            <a:r>
              <a:rPr sz="800" b="0">
                <a:solidFill>
                  <a:srgbClr val="1F2937"/>
                </a:solidFill>
                <a:latin typeface="Calibri"/>
              </a:rPr>
              <a:t/>
            </a:r>
          </a:p>
          <a:p>
            <a:pPr/>
            <a:r>
              <a:rPr sz="1800" b="1">
                <a:solidFill>
                  <a:srgbClr val="F59E0B"/>
                </a:solidFill>
                <a:latin typeface="Calibri"/>
              </a:rPr>
              <a:t>„Konfiguration ist Fine-Tuning, nicht Architektur."</a:t>
            </a:r>
          </a:p>
          <a:p>
            <a:pPr/>
            <a:r>
              <a:rPr sz="1400" b="0">
                <a:solidFill>
                  <a:srgbClr val="C7D2FE"/>
                </a:solidFill>
                <a:latin typeface="Calibri"/>
              </a:rPr>
              <a:t>Wiederverwendbare Muster · sauberer Kontext · billigstes Modell · Verifikation mit Evidenz · Security zuerst.</a:t>
            </a:r>
          </a:p>
          <a:p>
            <a:pPr/>
            <a:r>
              <a:rPr sz="1400" b="0">
                <a:solidFill>
                  <a:srgbClr val="312E81"/>
                </a:solidFill>
                <a:latin typeface="Calibri"/>
              </a:rPr>
              <a:t>5 Prinzipien: Agent-First · Test-Driven · Security-First · Immutability · Plan-Before-Execute.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12E81"/>
                </a:solidFill>
                <a:latin typeface="Calibri"/>
              </a:rPr>
              <a:t>2 · Setup &amp; VPS-Architektur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600" b="1">
                <a:solidFill>
                  <a:srgbClr val="312E81"/>
                </a:solidFill>
                <a:latin typeface="Calibri"/>
              </a:rPr>
              <a:t>ECC ist GLOBAL (~/.claude) → aktiv in JEDEM VPS-Projekt (WMS, Jarvis, n8n …).</a:t>
            </a:r>
          </a:p>
          <a:p>
            <a:pPr/>
            <a:r>
              <a:rPr sz="1400" b="0">
                <a:solidFill>
                  <a:srgbClr val="1F2937"/>
                </a:solidFill>
                <a:latin typeface="Calibri"/>
              </a:rPr>
              <a:t>Namespace-sicher (rules/ecc, skills/ecc) · RTK-Hook unangetastet · settings.json byte-identisch.</a:t>
            </a:r>
          </a:p>
          <a:p>
            <a:pPr/>
            <a:r>
              <a:rPr sz="1400" b="0">
                <a:solidFill>
                  <a:srgbClr val="1F2937"/>
                </a:solidFill>
                <a:latin typeface="Calibri"/>
              </a:rPr>
              <a:t>Reproduzierbar: Repo = Quelle, Re-Install via ./install-vps.sh (idempotent, mit Backup).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329184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840480"/>
                <a:gridCol w="493776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Dein Tool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ECC-Pendant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Empfehlung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superpowers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tdd-workflow, verification-loop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beides nutzbar; ECC bevorzugen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claude-mem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/save-session, learning-v2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EINE Memory-Quelle je Projekt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RTK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Token-Ökonomie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ergänzen sich (Bash- vs Workflow-Ebene)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context-mode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bleibt dein Recherche-Tool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12E81"/>
                </a:solidFill>
                <a:latin typeface="Calibri"/>
              </a:rPr>
              <a:t>3 · Mentales Modell — die Bausteine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9728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400800"/>
                <a:gridCol w="274320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Baustein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Was es ist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Wo (global)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Skills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Durable Kern: wiederverwendbare Workflow-Bündel, laden on-demand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~/.claude/skills/ecc/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Commands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Slash-Einstiegspunkte (/plan, /code-review …)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~/.claude/commands/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Subagents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Delegierbare Spezialisten mit eigenem Tool-Scope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~/.claude/agents/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Hooks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Trigger-Automatik an Lifecycle-Events (INAKTIV per Default)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~/.claude/hooks/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Rules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„Immer befolgen"-Leitlinien je Sprache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~/.claude/rules/ecc/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MCP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Prompt-getriebene Wrapper um externe Dienste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.mcp.json / global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Instincts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Gelernte Muster aus deinen Sessions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homunculus/instincts/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5321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500" b="1">
                <a:solidFill>
                  <a:srgbClr val="F59E0B"/>
                </a:solidFill>
                <a:latin typeface="Calibri"/>
              </a:rPr>
              <a:t>Regel: Durable Logik gehört in Skills. Was du 3× tippst → /skill-create.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12E81"/>
                </a:solidFill>
                <a:latin typeface="Calibri"/>
              </a:rPr>
              <a:t>4 · Täglicher Workflow — 5 Phasen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640080" y="1325880"/>
            <a:ext cx="10972800" cy="2286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300">
                <a:solidFill>
                  <a:srgbClr val="9CE3F0"/>
                </a:solidFill>
                <a:latin typeface="Consolas"/>
              </a:rPr>
              <a:t>RESEARCH   →  Explore-Agent / context-mode      →  research.md</a:t>
            </a:r>
          </a:p>
          <a:p>
            <a:r>
              <a:rPr sz="1300">
                <a:solidFill>
                  <a:srgbClr val="9CE3F0"/>
                </a:solidFill>
                <a:latin typeface="Consolas"/>
              </a:rPr>
              <a:t>PLAN       →  /plan  (wartet auf dein OK!)        →  plan.md</a:t>
            </a:r>
          </a:p>
          <a:p>
            <a:r>
              <a:rPr sz="1300">
                <a:solidFill>
                  <a:srgbClr val="9CE3F0"/>
                </a:solidFill>
                <a:latin typeface="Consolas"/>
              </a:rPr>
              <a:t>IMPLEMENT  →  /feature-dev + tdd-workflow          →  Code + Tests</a:t>
            </a:r>
          </a:p>
          <a:p>
            <a:r>
              <a:rPr sz="1300">
                <a:solidFill>
                  <a:srgbClr val="9CE3F0"/>
                </a:solidFill>
                <a:latin typeface="Consolas"/>
              </a:rPr>
              <a:t>REVIEW     →  /code-review (+ /&lt;sprache&gt;-review)   →  review.md</a:t>
            </a:r>
          </a:p>
          <a:p>
            <a:r>
              <a:rPr sz="1300">
                <a:solidFill>
                  <a:srgbClr val="9CE3F0"/>
                </a:solidFill>
                <a:latin typeface="Consolas"/>
              </a:rPr>
              <a:t>VERIFY     →  Tests/Build (+ /build-fix)           →  grün / zurück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109728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  <a:latin typeface="Calibri"/>
              </a:rPr>
              <a:t>Ein Input, ein Output je Schritt — in Dateien speichern.</a:t>
            </a:r>
          </a:p>
          <a:p>
            <a:pPr/>
            <a:r>
              <a:rPr sz="1500" b="0">
                <a:solidFill>
                  <a:srgbClr val="1F2937"/>
                </a:solidFill>
                <a:latin typeface="Calibri"/>
              </a:rPr>
              <a:t>Phasen nicht überspringen. /clear zwischen großen Phasen.</a:t>
            </a:r>
          </a:p>
          <a:p>
            <a:pPr/>
            <a:r>
              <a:rPr sz="1500" b="0">
                <a:solidFill>
                  <a:srgbClr val="1F2937"/>
                </a:solidFill>
                <a:latin typeface="Calibri"/>
              </a:rPr>
              <a:t>Subagents immer objektiven Kontext mitgeben, nicht nur die Frage.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12E81"/>
                </a:solidFill>
                <a:latin typeface="Calibri"/>
              </a:rPr>
              <a:t>5 · RPI-Workflow (BestPractice-Extra)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743200"/>
                <a:gridCol w="530352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Liefert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/rpi:research &lt;f&gt;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Viability-Gate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GO/NO-GO mit Begründung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/rpi:plan &lt;f&gt;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Planung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umfassende Planungs-Doku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/rpi:implement &lt;f&gt;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Umsetzung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phasiert, mit Validation-Gates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/adopt-project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Onboarding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liest Codebase, füllt state/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89120"/>
            <a:ext cx="10972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600" b="1">
                <a:solidFill>
                  <a:srgbClr val="312E81"/>
                </a:solidFill>
                <a:latin typeface="Calibri"/>
              </a:rPr>
              <a:t>Wann RPI? Größere, riskante Features mit nötigem Viability-Gate.</a:t>
            </a:r>
          </a:p>
          <a:p>
            <a:pPr/>
            <a:r>
              <a:rPr sz="1600" b="0">
                <a:solidFill>
                  <a:srgbClr val="312E81"/>
                </a:solidFill>
                <a:latin typeface="Calibri"/>
              </a:rPr>
              <a:t>Wann /plan? Schneller, normaler Plan-dann-Code-Flow.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12E81"/>
                </a:solidFill>
                <a:latin typeface="Calibri"/>
              </a:rPr>
              <a:t>6 · Cheat-Sheet — wann welcher Command (1/2)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1556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840480"/>
                <a:gridCol w="4572000"/>
              </a:tblGrid>
              <a:tr h="5943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Situation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Zweck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Neues Feature planen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/plan  oder  /rpi:research → /rpi:plan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Anforderungen, Risiken, Schritte — wartet auf dein OK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Feature umsetzen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/feature-dev  ·  /rpi:implement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nutzt Skills/Agents, TDD zuerst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Bestehendes Projekt adoptieren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/adopt-project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liest Codebase, füllt state/ &amp; Regeln (BP-Extra)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Code geschrieben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/code-review  (+ /python-review, /go-review …)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Qualität + Security der Änderungen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Build/Tests rot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/build-fix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inkrementelle, minimale Fixes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Coverage / Qualität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/test-coverage  ·  /quality-gate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Lücken finden, Pipeline prüfen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Aufräumen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/refactor-clean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toter Code + lose Dateien raus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12E81"/>
                </a:solidFill>
                <a:latin typeface="Calibri"/>
              </a:rPr>
              <a:t>6 · Cheat-Sheet — wann welcher Command (2/2)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1556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840480"/>
                <a:gridCol w="4572000"/>
              </a:tblGrid>
              <a:tr h="5943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Situation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Zweck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Library-Doku live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context7-MCP  ·  Skill documentation-lookup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aktuelle API-Doku statt Halluzination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Session sichern/laden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/save-session  ·  /resume-session  ·  /sessions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über den Tag hinaus arbeiten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Checkpoint / Nebenfrage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/checkpoint  ·  /aside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Stand markieren / Kontext bewahren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Gelerntes extrahieren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/learn-eval → /evolve → /promote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Self-Improvement-Loop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Modell / Kosten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/model-route  ·  /cost-report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billigstes ausreichendes Modell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Harness prüfen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/harness-audit  ·  /ecc-guide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Config-Scorecard / Onboarding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Parallel / Loop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/multi-plan  ·  /loop-start  ·  /loop-status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mehrere Modelle / Automation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12E81"/>
                </a:solidFill>
                <a:latin typeface="Calibri"/>
              </a:rPr>
              <a:t>7 · Wann welcher 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Calibri"/>
              </a:rPr>
              <a:t>Faustregel: 20–30 konfiguriert, &lt; 10 aktiv / &lt; 80 Tools. Ungenutztes mit /mcp deaktivieren.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83080"/>
          <a:ext cx="1115568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560320"/>
                <a:gridCol w="5303520"/>
              </a:tblGrid>
              <a:tr h="44805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Aufgabe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MCP / Tool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Hinweis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Aktuelle Library-/API-Doku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context7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React, Prisma, Next.js … statt veraltetem Wissen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Web-Recherche / Discovery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exa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breite Suche, wenn GitHub+Docs nicht reichen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GitHub (PRs, Issues, Code-Suche)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github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Code-Search FIRST vor Neuschreiben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Browser / E2E / Screenshots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playwright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headless Automation, visuelle Tests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PDF / Word / Excel lesen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markitdown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Dokumente → Markdown (global aktiv)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Strukturierter Wissensgraph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memory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Laufzeit-Memory (mit claude-mem abstimmen)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Schrittweises Reasoning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sequential-thinking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komplexe Mehrschritt-Probleme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Bash-Token sparen (lokal)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RTK-Hook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60–90 % Ersparnis, läuft transparent global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Recherche/Analyse (Sandbox)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context-mode (ctx_*)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dein bestehendes Tool, bleibt primär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12E81"/>
                </a:solidFill>
                <a:latin typeface="Calibri"/>
              </a:rPr>
              <a:t>8 · Token-Ökonomie &amp; Modellstrategie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1556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645920"/>
                <a:gridCol w="6035040"/>
              </a:tblGrid>
              <a:tr h="4267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Aufgabe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Modell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Warum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Exploration / Suche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Haiku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schnell, billig, reicht zum Finden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Einfache Einzeldatei-Edits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Haiku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klar umrissen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Multi-File-Implementierung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Sonnet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bester Coding-Kompromiss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Komplexe Architektur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Opus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tiefes Reasoning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PR-Review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Sonnet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versteht Kontext, fängt Nuancen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Security-Analyse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Opus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darf nichts übersehen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Doku schreiben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Haiku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einfache Struktur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Komplexe Bugs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Opus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ganzes System im Kopf halten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9496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500" b="1">
                <a:solidFill>
                  <a:srgbClr val="312E81"/>
                </a:solidFill>
                <a:latin typeface="Calibri"/>
              </a:rPr>
              <a:t>Default = Sonnet (~90 %). Opus bei: 1. Versuch gescheitert · ≥5 Dateien · Architektur · Security.</a:t>
            </a:r>
          </a:p>
          <a:p>
            <a:pPr/>
            <a:r>
              <a:rPr sz="1400" b="0">
                <a:solidFill>
                  <a:srgbClr val="C7D2FE"/>
                </a:solidFill>
                <a:latin typeface="Calibri"/>
              </a:rPr>
              <a:t>Hilfe: /model-route, /cost-report. Auto-Compact aus, manuell /compact mit Hint.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12E81"/>
                </a:solidFill>
                <a:latin typeface="Calibri"/>
              </a:rPr>
              <a:t>9–10 · Memory, Sessions &amp; Continuous Learning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621792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Zweck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/save-session · /resume-session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Tag-zu-Tag-Fortschritt persistieren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/sessions · /checkpoint · /aside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Historie · Checkpoint · Nebenfrage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/learn-eval → /evolve → /promote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Self-Improvement-Loop (Instincts)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/instinct-status · /skill-create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Instincts zeigen · Skill aus Git-History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206240"/>
            <a:ext cx="10972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500" b="1">
                <a:solidFill>
                  <a:srgbClr val="F59E0B"/>
                </a:solidFill>
                <a:latin typeface="Calibri"/>
              </a:rPr>
              <a:t>EINE primäre Memory-Quelle je Projekt (claude-mem-Koexistenz). Keine Secrets in Memory.</a:t>
            </a:r>
          </a:p>
          <a:p>
            <a:pPr/>
            <a:r>
              <a:rPr sz="1500" b="0">
                <a:solidFill>
                  <a:srgbClr val="312E81"/>
                </a:solidFill>
                <a:latin typeface="Calibri"/>
              </a:rPr>
              <a:t>Routine: Session-Ende → /learn-eval → /evolve → /promote.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12E81"/>
                </a:solidFill>
                <a:latin typeface="Calibri"/>
              </a:rPr>
              <a:t>12 · Security im Alltag + VPS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600" b="1">
                <a:solidFill>
                  <a:srgbClr val="312E81"/>
                </a:solidFill>
                <a:latin typeface="Calibri"/>
              </a:rPr>
              <a:t>Aktiv / sicher:</a:t>
            </a:r>
          </a:p>
          <a:p>
            <a:pPr lvl="1"/>
            <a:r>
              <a:rPr sz="1300" b="0">
                <a:solidFill>
                  <a:srgbClr val="1F2937"/>
                </a:solidFill>
                <a:latin typeface="Calibri"/>
              </a:rPr>
              <a:t>RTK-Hook — PreToolUse:Bash bleibt unangetastet — Token-Ersparnis global.</a:t>
            </a:r>
          </a:p>
          <a:p>
            <a:pPr lvl="1"/>
            <a:r>
              <a:rPr sz="1300" b="0">
                <a:solidFill>
                  <a:srgbClr val="1F2937"/>
                </a:solidFill>
                <a:latin typeface="Calibri"/>
              </a:rPr>
              <a:t>ECC namespace-sicher — rules/ecc/, skills/ecc/ — keine Kollision mit Eigenem.</a:t>
            </a:r>
          </a:p>
          <a:p>
            <a:pPr lvl="1"/>
            <a:r>
              <a:rPr sz="1300" b="0">
                <a:solidFill>
                  <a:srgbClr val="1F2937"/>
                </a:solidFill>
                <a:latin typeface="Calibri"/>
              </a:rPr>
              <a:t>settings.json unberührt — kein Auto-Edit der Startup-Config; nur additiv via ./install-vps.sh --harden.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97280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600" b="1">
                <a:solidFill>
                  <a:srgbClr val="F59E0B"/>
                </a:solidFill>
                <a:latin typeface="Calibri"/>
              </a:rPr>
              <a:t>Bewusst opt-in (Least-Agency):</a:t>
            </a:r>
          </a:p>
          <a:p>
            <a:pPr lvl="1"/>
            <a:r>
              <a:rPr sz="1300" b="0">
                <a:solidFill>
                  <a:srgbClr val="1F2937"/>
                </a:solidFill>
                <a:latin typeface="Calibri"/>
              </a:rPr>
              <a:t>ECC-Hooks INAKTIV — Repo-kontrollierte Hooks nicht blind aktiv. Bewusst aktivieren nach Sichtung von hooks.json.</a:t>
            </a:r>
          </a:p>
          <a:p>
            <a:pPr lvl="1"/>
            <a:r>
              <a:rPr sz="1300" b="0">
                <a:solidFill>
                  <a:srgbClr val="1F2937"/>
                </a:solidFill>
                <a:latin typeface="Calibri"/>
              </a:rPr>
              <a:t>deny-Baseline opt-in — ./install-vps.sh --harden ergänzt rm -rf / force-push / Secret-Reads (mit Backup).</a:t>
            </a:r>
          </a:p>
          <a:p>
            <a:pPr lvl="1"/>
            <a:r>
              <a:rPr sz="1300" b="0">
                <a:solidFill>
                  <a:srgbClr val="1F2937"/>
                </a:solidFill>
                <a:latin typeface="Calibri"/>
              </a:rPr>
              <a:t>AgentShield — npx ecc-agentshield scan lädt externes Paket — selbst vetten, dann ausführen.</a:t>
            </a:r>
          </a:p>
          <a:p>
            <a:pPr/>
            <a:r>
              <a:rPr sz="1300" b="0">
                <a:solidFill>
                  <a:srgbClr val="312E81"/>
                </a:solidFill>
                <a:latin typeface="Calibri"/>
              </a:rPr>
              <a:t>VPS-weit: ECC global → Hooks bleiben inaktiv bis zur bewussten Aktivierung. Härtung: ./install-vps.sh --harden.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Quellen &amp; TL;DR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500" b="1">
                <a:solidFill>
                  <a:srgbClr val="06B6D4"/>
                </a:solidFill>
                <a:latin typeface="Calibri"/>
              </a:rPr>
              <a:t>Guides von @affaanmustafa (X-Threads; lokal unter ecc/):</a:t>
            </a:r>
          </a:p>
          <a:p>
            <a:pPr/>
            <a:r>
              <a:rPr sz="1200" b="0">
                <a:solidFill>
                  <a:srgbClr val="FFFFFF"/>
                </a:solidFill>
                <a:latin typeface="Calibri"/>
              </a:rPr>
              <a:t>Shortform: https://x.com/affaanmustafa/status/2012378465664745795</a:t>
            </a:r>
          </a:p>
          <a:p>
            <a:pPr/>
            <a:r>
              <a:rPr sz="1200" b="0">
                <a:solidFill>
                  <a:srgbClr val="FFFFFF"/>
                </a:solidFill>
                <a:latin typeface="Calibri"/>
              </a:rPr>
              <a:t>Longform:  https://x.com/affaanmustafa/status/2014040193557471352</a:t>
            </a:r>
          </a:p>
          <a:p>
            <a:pPr/>
            <a:r>
              <a:rPr sz="1200" b="0">
                <a:solidFill>
                  <a:srgbClr val="FFFFFF"/>
                </a:solidFill>
                <a:latin typeface="Calibri"/>
              </a:rPr>
              <a:t>Security:  https://x.com/affaanmustafa/status/2033263813387223421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69848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600" b="1">
                <a:solidFill>
                  <a:srgbClr val="06B6D4"/>
                </a:solidFill>
                <a:latin typeface="Calibri"/>
              </a:rPr>
              <a:t>TL;DR — wie der Erfinder:</a:t>
            </a:r>
          </a:p>
          <a:p>
            <a:pPr/>
            <a:r>
              <a:rPr sz="1300" b="0">
                <a:solidFill>
                  <a:srgbClr val="FFFFFF"/>
                </a:solidFill>
                <a:latin typeface="Calibri"/>
              </a:rPr>
              <a:t>1. In Phasen: Research → /plan (oder /rpi) → /feature-dev+TDD → /code-review → Verify.</a:t>
            </a:r>
          </a:p>
          <a:p>
            <a:pPr/>
            <a:r>
              <a:rPr sz="1300" b="0">
                <a:solidFill>
                  <a:srgbClr val="FFFFFF"/>
                </a:solidFill>
                <a:latin typeface="Calibri"/>
              </a:rPr>
              <a:t>2. Kontext sauber: &lt;10 MCPs, billigstes Modell, modulare Dateien, strategisch compacten.</a:t>
            </a:r>
          </a:p>
          <a:p>
            <a:pPr/>
            <a:r>
              <a:rPr sz="1300" b="0">
                <a:solidFill>
                  <a:srgbClr val="FFFFFF"/>
                </a:solidFill>
                <a:latin typeface="Calibri"/>
              </a:rPr>
              <a:t>3. Persistieren: /save-session · /resume-session.   4. Lernen: /learn-eval → /evolve → /promote.</a:t>
            </a:r>
          </a:p>
          <a:p>
            <a:pPr/>
            <a:r>
              <a:rPr sz="1300" b="0">
                <a:solidFill>
                  <a:srgbClr val="FFFFFF"/>
                </a:solidFill>
                <a:latin typeface="Calibri"/>
              </a:rPr>
              <a:t>5. Security zuerst: RTK aktiv, Hooks/AgentShield bewusst, nie blind ausführen.</a:t>
            </a:r>
          </a:p>
          <a:p>
            <a:pPr/>
            <a:r>
              <a:rPr sz="1300" b="0">
                <a:solidFill>
                  <a:srgbClr val="FFFFFF"/>
                </a:solidFill>
                <a:latin typeface="Calibri"/>
              </a:rPr>
              <a:t>6. Unsicher? /ecc-guide · ecc doctor · die drei Original-Guides.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