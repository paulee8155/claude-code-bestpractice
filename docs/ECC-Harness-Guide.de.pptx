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788920"/>
            <a:ext cx="12191695" cy="54864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32588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2D3EE"/>
                </a:solidFill>
                <a:latin typeface="Calibri"/>
              </a:rPr>
              <a:t>ENGINEERING HARNESS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78308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>
                <a:solidFill>
                  <a:srgbClr val="FFFFFF"/>
                </a:solidFill>
                <a:latin typeface="Calibri"/>
              </a:rPr>
              <a:t>ECC × BestPractice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515600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E6EDF8"/>
                </a:solidFill>
                <a:latin typeface="Calibri"/>
              </a:rPr>
              <a:t>Das fusionierte, VPS-weite Claude-Code-Harness</a:t>
            </a:r>
          </a:p>
          <a:p>
            <a:pPr algn="l"/>
            <a:r>
              <a:rPr sz="1400" b="0">
                <a:solidFill>
                  <a:srgbClr val="8B98B0"/>
                </a:solidFill>
                <a:latin typeface="Calibri"/>
              </a:rPr>
              <a:t>Global aktiv in ~/.claude · ECC 2.0.0-rc.1 (core, führend) · RTK-sicher</a:t>
            </a:r>
          </a:p>
          <a:p>
            <a:pPr algn="l"/>
            <a:r>
              <a:rPr sz="1400" b="0">
                <a:solidFill>
                  <a:srgbClr val="8B98B0"/>
                </a:solidFill>
                <a:latin typeface="Calibri"/>
              </a:rPr>
              <a:t>Quelle/Re-Install: ./install-vps.sh · Guides: @affaanmustafa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384048"/>
            <a:ext cx="146304" cy="146304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017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2D3EE"/>
                </a:solidFill>
                <a:latin typeface="Calibri"/>
              </a:rPr>
              <a:t>ÜBERBLICK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301752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8B98B0"/>
                </a:solidFill>
                <a:latin typeface="Calibri"/>
              </a:rPr>
              <a:t>1 / 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110642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E6EDF8"/>
                </a:solidFill>
                <a:latin typeface="Calibri"/>
              </a:rPr>
              <a:t>§1 Was ist das Harness?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81328"/>
            <a:ext cx="2011680" cy="41148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737360"/>
            <a:ext cx="6766560" cy="411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700" b="1">
                <a:solidFill>
                  <a:srgbClr val="818CF8"/>
                </a:solidFill>
                <a:latin typeface="Calibri"/>
              </a:rPr>
              <a:t>Fusion zweier Systeme — Fokus auf ECC:</a:t>
            </a:r>
          </a:p>
          <a:p>
            <a:pPr lvl="1" algn="l"/>
            <a:r>
              <a:rPr sz="1400" b="0">
                <a:solidFill>
                  <a:srgbClr val="E6EDF8"/>
                </a:solidFill>
                <a:latin typeface="Calibri"/>
              </a:rPr>
              <a:t>ECC-Engine: 63 Agents · 249 Skills · ~80 Commands,</a:t>
            </a:r>
          </a:p>
          <a:p>
            <a:pPr lvl="2" algn="l"/>
            <a:r>
              <a:rPr sz="1400" b="0">
                <a:solidFill>
                  <a:srgbClr val="8B98B0"/>
                </a:solidFill>
                <a:latin typeface="Calibri"/>
              </a:rPr>
              <a:t>manifest-Installer, Continuous Learning, Security-Scanning.</a:t>
            </a:r>
          </a:p>
          <a:p>
            <a:pPr lvl="1" algn="l"/>
            <a:r>
              <a:rPr sz="1400" b="0">
                <a:solidFill>
                  <a:srgbClr val="E6EDF8"/>
                </a:solidFill>
                <a:latin typeface="Calibri"/>
              </a:rPr>
              <a:t>BestPractice-Extras: /ecc-onboard (One-Shot-Setup),</a:t>
            </a:r>
          </a:p>
          <a:p>
            <a:pPr lvl="2" algn="l"/>
            <a:r>
              <a:rPr sz="1400" b="0">
                <a:solidFill>
                  <a:srgbClr val="8B98B0"/>
                </a:solidFill>
                <a:latin typeface="Calibri"/>
              </a:rPr>
              <a:t>state/-Pattern, Karpathy-Prinzipien.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680960" y="1737360"/>
            <a:ext cx="3931920" cy="2377440"/>
          </a:xfrm>
          <a:prstGeom prst="roundRect">
            <a:avLst>
              <a:gd name="adj" fmla="val 6000"/>
            </a:avLst>
          </a:prstGeom>
          <a:solidFill>
            <a:srgbClr val="141A2E"/>
          </a:solidFill>
          <a:ln w="9525">
            <a:solidFill>
              <a:srgbClr val="FBBF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55279" y="1965960"/>
            <a:ext cx="3383280" cy="2011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700" b="1">
                <a:solidFill>
                  <a:srgbClr val="FBBF24"/>
                </a:solidFill>
                <a:latin typeface="Calibri"/>
              </a:rPr>
              <a:t>„Konfiguration ist Fine-Tuning,</a:t>
            </a:r>
          </a:p>
          <a:p>
            <a:pPr algn="l"/>
            <a:r>
              <a:rPr sz="1700" b="1">
                <a:solidFill>
                  <a:srgbClr val="FBBF24"/>
                </a:solidFill>
                <a:latin typeface="Calibri"/>
              </a:rPr>
              <a:t>nicht Architektur.“</a:t>
            </a:r>
          </a:p>
          <a:p>
            <a:pPr algn="l"/>
            <a:r>
              <a:rPr sz="600" b="0">
                <a:solidFill>
                  <a:srgbClr val="E6EDF8"/>
                </a:solidFill>
                <a:latin typeface="Calibri"/>
              </a:rPr>
              <a:t/>
            </a:r>
          </a:p>
          <a:p>
            <a:pPr algn="l"/>
            <a:r>
              <a:rPr sz="1200" b="0">
                <a:solidFill>
                  <a:srgbClr val="8B98B0"/>
                </a:solidFill>
                <a:latin typeface="Calibri"/>
              </a:rPr>
              <a:t>Muster wiederverwenden · Kontext sauber · billigstes Modell · Evidenz.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85216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818CF8"/>
                </a:solidFill>
                <a:latin typeface="Calibri"/>
              </a:rPr>
              <a:t>5 Prinzipien:  Agent-First · Test-Driven · Security-First · Immutability · Plan-Before-Execute.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384048"/>
            <a:ext cx="146304" cy="146304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017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2D3EE"/>
                </a:solidFill>
                <a:latin typeface="Calibri"/>
              </a:rPr>
              <a:t>INSTALLATION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301752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8B98B0"/>
                </a:solidFill>
                <a:latin typeface="Calibri"/>
              </a:rPr>
              <a:t>2 / 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110642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E6EDF8"/>
                </a:solidFill>
                <a:latin typeface="Calibri"/>
              </a:rPr>
              <a:t>§2 Setup &amp; VPS-Architektur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81328"/>
            <a:ext cx="2011680" cy="41148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91640"/>
            <a:ext cx="10972800" cy="1554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 b="1">
                <a:solidFill>
                  <a:srgbClr val="818CF8"/>
                </a:solidFill>
                <a:latin typeface="Calibri"/>
              </a:rPr>
              <a:t>ECC ist GLOBAL (~/.claude) → aktiv in JEDEM VPS-Projekt (WMS, Jarvis, n8n …).</a:t>
            </a:r>
          </a:p>
          <a:p>
            <a:pPr algn="l"/>
            <a:r>
              <a:rPr sz="1400" b="0">
                <a:solidFill>
                  <a:srgbClr val="E6EDF8"/>
                </a:solidFill>
                <a:latin typeface="Calibri"/>
              </a:rPr>
              <a:t>Namespace-sicher (rules/ecc, skills/ecc) · RTK-Hook unangetastet · Installer additiv.</a:t>
            </a:r>
          </a:p>
          <a:p>
            <a:pPr algn="l"/>
            <a:r>
              <a:rPr sz="1400" b="0">
                <a:solidFill>
                  <a:srgbClr val="E6EDF8"/>
                </a:solidFill>
                <a:latin typeface="Calibri"/>
              </a:rPr>
              <a:t>Reproduzierbar: Repo = Quelle, Re-Install via ./install-vps.sh (idempotent, mit Backup).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3383280"/>
          <a:ext cx="10972800" cy="256032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377440"/>
                <a:gridCol w="3840480"/>
                <a:gridCol w="4754880"/>
              </a:tblGrid>
              <a:tr h="512064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22D3EE"/>
                          </a:solidFill>
                          <a:latin typeface="Calibri"/>
                        </a:rPr>
                        <a:t>Dein Tool</a:t>
                      </a:r>
                    </a:p>
                  </a:txBody>
                  <a:tcPr marT="36576" marB="36576" marL="73152" marR="73152">
                    <a:solidFill>
                      <a:srgbClr val="0E142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22D3EE"/>
                          </a:solidFill>
                          <a:latin typeface="Calibri"/>
                        </a:rPr>
                        <a:t>ECC-Pendant</a:t>
                      </a:r>
                    </a:p>
                  </a:txBody>
                  <a:tcPr marT="36576" marB="36576" marL="73152" marR="73152">
                    <a:solidFill>
                      <a:srgbClr val="0E142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22D3EE"/>
                          </a:solidFill>
                          <a:latin typeface="Calibri"/>
                        </a:rPr>
                        <a:t>Empfehlung</a:t>
                      </a:r>
                    </a:p>
                  </a:txBody>
                  <a:tcPr marT="36576" marB="36576" marL="73152" marR="73152">
                    <a:solidFill>
                      <a:srgbClr val="0E1424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E6EDF8"/>
                          </a:solidFill>
                          <a:latin typeface="Calibri"/>
                        </a:rPr>
                        <a:t>superpowers</a:t>
                      </a:r>
                    </a:p>
                  </a:txBody>
                  <a:tcPr marT="36576" marB="36576" marL="73152" marR="73152">
                    <a:solidFill>
                      <a:srgbClr val="141A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E6EDF8"/>
                          </a:solidFill>
                          <a:latin typeface="Calibri"/>
                        </a:rPr>
                        <a:t>tdd-workflow, verification-loop</a:t>
                      </a:r>
                    </a:p>
                  </a:txBody>
                  <a:tcPr marT="36576" marB="36576" marL="73152" marR="73152">
                    <a:solidFill>
                      <a:srgbClr val="141A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E6EDF8"/>
                          </a:solidFill>
                          <a:latin typeface="Calibri"/>
                        </a:rPr>
                        <a:t>beides nutzbar; ECC bevorzugen</a:t>
                      </a:r>
                    </a:p>
                  </a:txBody>
                  <a:tcPr marT="36576" marB="36576" marL="73152" marR="73152">
                    <a:solidFill>
                      <a:srgbClr val="141A2E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E6EDF8"/>
                          </a:solidFill>
                          <a:latin typeface="Calibri"/>
                        </a:rPr>
                        <a:t>claude-mem</a:t>
                      </a:r>
                    </a:p>
                  </a:txBody>
                  <a:tcPr marT="36576" marB="36576" marL="73152" marR="73152">
                    <a:solidFill>
                      <a:srgbClr val="0A0E1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E6EDF8"/>
                          </a:solidFill>
                          <a:latin typeface="Calibri"/>
                        </a:rPr>
                        <a:t>/save-session, learning-v2</a:t>
                      </a:r>
                    </a:p>
                  </a:txBody>
                  <a:tcPr marT="36576" marB="36576" marL="73152" marR="73152">
                    <a:solidFill>
                      <a:srgbClr val="0A0E1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E6EDF8"/>
                          </a:solidFill>
                          <a:latin typeface="Calibri"/>
                        </a:rPr>
                        <a:t>primäre Memory-Quelle, auto-injiziert</a:t>
                      </a:r>
                    </a:p>
                  </a:txBody>
                  <a:tcPr marT="36576" marB="36576" marL="73152" marR="73152">
                    <a:solidFill>
                      <a:srgbClr val="0A0E1A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E6EDF8"/>
                          </a:solidFill>
                          <a:latin typeface="Calibri"/>
                        </a:rPr>
                        <a:t>RTK</a:t>
                      </a:r>
                    </a:p>
                  </a:txBody>
                  <a:tcPr marT="36576" marB="36576" marL="73152" marR="73152">
                    <a:solidFill>
                      <a:srgbClr val="141A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E6EDF8"/>
                          </a:solidFill>
                          <a:latin typeface="Calibri"/>
                        </a:rPr>
                        <a:t>Token-Ökonomie</a:t>
                      </a:r>
                    </a:p>
                  </a:txBody>
                  <a:tcPr marT="36576" marB="36576" marL="73152" marR="73152">
                    <a:solidFill>
                      <a:srgbClr val="141A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E6EDF8"/>
                          </a:solidFill>
                          <a:latin typeface="Calibri"/>
                        </a:rPr>
                        <a:t>ergänzen sich (Bash- vs Workflow-Ebene)</a:t>
                      </a:r>
                    </a:p>
                  </a:txBody>
                  <a:tcPr marT="36576" marB="36576" marL="73152" marR="73152">
                    <a:solidFill>
                      <a:srgbClr val="141A2E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E6EDF8"/>
                          </a:solidFill>
                          <a:latin typeface="Calibri"/>
                        </a:rPr>
                        <a:t>codex / superpowers</a:t>
                      </a:r>
                    </a:p>
                  </a:txBody>
                  <a:tcPr marT="36576" marB="36576" marL="73152" marR="73152">
                    <a:solidFill>
                      <a:srgbClr val="0A0E1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E6EDF8"/>
                          </a:solidFill>
                          <a:latin typeface="Calibri"/>
                        </a:rPr>
                        <a:t>diverse Skills</a:t>
                      </a:r>
                    </a:p>
                  </a:txBody>
                  <a:tcPr marT="36576" marB="36576" marL="73152" marR="73152">
                    <a:solidFill>
                      <a:srgbClr val="0A0E1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E6EDF8"/>
                          </a:solidFill>
                          <a:latin typeface="Calibri"/>
                        </a:rPr>
                        <a:t>eigenständig; bleiben aktiv</a:t>
                      </a:r>
                    </a:p>
                  </a:txBody>
                  <a:tcPr marT="36576" marB="36576" marL="73152" marR="73152">
                    <a:solidFill>
                      <a:srgbClr val="0A0E1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384048"/>
            <a:ext cx="146304" cy="146304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017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2D3EE"/>
                </a:solidFill>
                <a:latin typeface="Calibri"/>
              </a:rPr>
              <a:t>BAUSTEINE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301752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8B98B0"/>
                </a:solidFill>
                <a:latin typeface="Calibri"/>
              </a:rPr>
              <a:t>3 / 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110642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E6EDF8"/>
                </a:solidFill>
                <a:latin typeface="Calibri"/>
              </a:rPr>
              <a:t>§3 Mentales Modell — die Bausteine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81328"/>
            <a:ext cx="2011680" cy="41148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40080" y="1783080"/>
            <a:ext cx="2697480" cy="1554480"/>
          </a:xfrm>
          <a:prstGeom prst="roundRect">
            <a:avLst>
              <a:gd name="adj" fmla="val 6000"/>
            </a:avLst>
          </a:prstGeom>
          <a:solidFill>
            <a:srgbClr val="14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1" y="1911095"/>
            <a:ext cx="2368296" cy="12984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>
                <a:solidFill>
                  <a:srgbClr val="22D3EE"/>
                </a:solidFill>
                <a:latin typeface="Calibri"/>
              </a:rPr>
              <a:t>Skills</a:t>
            </a:r>
          </a:p>
          <a:p>
            <a:pPr algn="l"/>
            <a:r>
              <a:rPr sz="1050" b="0">
                <a:solidFill>
                  <a:srgbClr val="8B98B0"/>
                </a:solidFill>
                <a:latin typeface="Calibri"/>
              </a:rPr>
              <a:t>Durable Kern: wiederverwendbare Workflow-Bündel, laden on-demand</a:t>
            </a:r>
          </a:p>
          <a:p>
            <a:pPr algn="l"/>
            <a:r>
              <a:rPr sz="950" b="0">
                <a:solidFill>
                  <a:srgbClr val="818CF8"/>
                </a:solidFill>
                <a:latin typeface="Calibri"/>
              </a:rPr>
              <a:t>~/.claude/skills/ecc/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20440" y="1783080"/>
            <a:ext cx="2697480" cy="1554480"/>
          </a:xfrm>
          <a:prstGeom prst="roundRect">
            <a:avLst>
              <a:gd name="adj" fmla="val 6000"/>
            </a:avLst>
          </a:prstGeom>
          <a:solidFill>
            <a:srgbClr val="14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85032" y="1911095"/>
            <a:ext cx="2368296" cy="12984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>
                <a:solidFill>
                  <a:srgbClr val="22D3EE"/>
                </a:solidFill>
                <a:latin typeface="Calibri"/>
              </a:rPr>
              <a:t>Commands</a:t>
            </a:r>
          </a:p>
          <a:p>
            <a:pPr algn="l"/>
            <a:r>
              <a:rPr sz="1050" b="0">
                <a:solidFill>
                  <a:srgbClr val="8B98B0"/>
                </a:solidFill>
                <a:latin typeface="Calibri"/>
              </a:rPr>
              <a:t>Slash-Einstiegspunkte (/plan, /code-review …)</a:t>
            </a:r>
          </a:p>
          <a:p>
            <a:pPr algn="l"/>
            <a:r>
              <a:rPr sz="950" b="0">
                <a:solidFill>
                  <a:srgbClr val="818CF8"/>
                </a:solidFill>
                <a:latin typeface="Calibri"/>
              </a:rPr>
              <a:t>~/.claude/commands/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0" y="1783080"/>
            <a:ext cx="2697480" cy="1554480"/>
          </a:xfrm>
          <a:prstGeom prst="roundRect">
            <a:avLst>
              <a:gd name="adj" fmla="val 6000"/>
            </a:avLst>
          </a:prstGeom>
          <a:solidFill>
            <a:srgbClr val="14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65392" y="1911095"/>
            <a:ext cx="2368296" cy="12984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>
                <a:solidFill>
                  <a:srgbClr val="22D3EE"/>
                </a:solidFill>
                <a:latin typeface="Calibri"/>
              </a:rPr>
              <a:t>Subagents</a:t>
            </a:r>
          </a:p>
          <a:p>
            <a:pPr algn="l"/>
            <a:r>
              <a:rPr sz="1050" b="0">
                <a:solidFill>
                  <a:srgbClr val="8B98B0"/>
                </a:solidFill>
                <a:latin typeface="Calibri"/>
              </a:rPr>
              <a:t>Delegierbare Spezialisten mit eigenem Tool-Scope</a:t>
            </a:r>
          </a:p>
          <a:p>
            <a:pPr algn="l"/>
            <a:r>
              <a:rPr sz="950" b="0">
                <a:solidFill>
                  <a:srgbClr val="818CF8"/>
                </a:solidFill>
                <a:latin typeface="Calibri"/>
              </a:rPr>
              <a:t>~/.claude/agents/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281160" y="1783080"/>
            <a:ext cx="2697480" cy="1554480"/>
          </a:xfrm>
          <a:prstGeom prst="roundRect">
            <a:avLst>
              <a:gd name="adj" fmla="val 6000"/>
            </a:avLst>
          </a:prstGeom>
          <a:solidFill>
            <a:srgbClr val="14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445752" y="1911095"/>
            <a:ext cx="2368296" cy="12984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>
                <a:solidFill>
                  <a:srgbClr val="22D3EE"/>
                </a:solidFill>
                <a:latin typeface="Calibri"/>
              </a:rPr>
              <a:t>Hooks</a:t>
            </a:r>
          </a:p>
          <a:p>
            <a:pPr algn="l"/>
            <a:r>
              <a:rPr sz="1050" b="0">
                <a:solidFill>
                  <a:srgbClr val="8B98B0"/>
                </a:solidFill>
                <a:latin typeface="Calibri"/>
              </a:rPr>
              <a:t>Trigger-Automatik an Lifecycle-Events (INAKTIV per Default)</a:t>
            </a:r>
          </a:p>
          <a:p>
            <a:pPr algn="l"/>
            <a:r>
              <a:rPr sz="950" b="0">
                <a:solidFill>
                  <a:srgbClr val="818CF8"/>
                </a:solidFill>
                <a:latin typeface="Calibri"/>
              </a:rPr>
              <a:t>~/.claude/hooks/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520440"/>
            <a:ext cx="2697480" cy="1554480"/>
          </a:xfrm>
          <a:prstGeom prst="roundRect">
            <a:avLst>
              <a:gd name="adj" fmla="val 6000"/>
            </a:avLst>
          </a:prstGeom>
          <a:solidFill>
            <a:srgbClr val="14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4671" y="3648456"/>
            <a:ext cx="2368296" cy="12984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>
                <a:solidFill>
                  <a:srgbClr val="22D3EE"/>
                </a:solidFill>
                <a:latin typeface="Calibri"/>
              </a:rPr>
              <a:t>Rules</a:t>
            </a:r>
          </a:p>
          <a:p>
            <a:pPr algn="l"/>
            <a:r>
              <a:rPr sz="1050" b="0">
                <a:solidFill>
                  <a:srgbClr val="8B98B0"/>
                </a:solidFill>
                <a:latin typeface="Calibri"/>
              </a:rPr>
              <a:t>„Immer befolgen"-Leitlinien je Sprache</a:t>
            </a:r>
          </a:p>
          <a:p>
            <a:pPr algn="l"/>
            <a:r>
              <a:rPr sz="950" b="0">
                <a:solidFill>
                  <a:srgbClr val="818CF8"/>
                </a:solidFill>
                <a:latin typeface="Calibri"/>
              </a:rPr>
              <a:t>~/.claude/rules/ecc/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520440" y="3520440"/>
            <a:ext cx="2697480" cy="1554480"/>
          </a:xfrm>
          <a:prstGeom prst="roundRect">
            <a:avLst>
              <a:gd name="adj" fmla="val 6000"/>
            </a:avLst>
          </a:prstGeom>
          <a:solidFill>
            <a:srgbClr val="14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85032" y="3648456"/>
            <a:ext cx="2368296" cy="12984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>
                <a:solidFill>
                  <a:srgbClr val="22D3EE"/>
                </a:solidFill>
                <a:latin typeface="Calibri"/>
              </a:rPr>
              <a:t>MCP</a:t>
            </a:r>
          </a:p>
          <a:p>
            <a:pPr algn="l"/>
            <a:r>
              <a:rPr sz="1050" b="0">
                <a:solidFill>
                  <a:srgbClr val="8B98B0"/>
                </a:solidFill>
                <a:latin typeface="Calibri"/>
              </a:rPr>
              <a:t>Prompt-getriebene Wrapper um externe Dienste</a:t>
            </a:r>
          </a:p>
          <a:p>
            <a:pPr algn="l"/>
            <a:r>
              <a:rPr sz="950" b="0">
                <a:solidFill>
                  <a:srgbClr val="818CF8"/>
                </a:solidFill>
                <a:latin typeface="Calibri"/>
              </a:rPr>
              <a:t>.mcp.json / global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0" y="3520440"/>
            <a:ext cx="2697480" cy="1554480"/>
          </a:xfrm>
          <a:prstGeom prst="roundRect">
            <a:avLst>
              <a:gd name="adj" fmla="val 6000"/>
            </a:avLst>
          </a:prstGeom>
          <a:solidFill>
            <a:srgbClr val="14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65392" y="3648456"/>
            <a:ext cx="2368296" cy="12984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>
                <a:solidFill>
                  <a:srgbClr val="22D3EE"/>
                </a:solidFill>
                <a:latin typeface="Calibri"/>
              </a:rPr>
              <a:t>Instincts</a:t>
            </a:r>
          </a:p>
          <a:p>
            <a:pPr algn="l"/>
            <a:r>
              <a:rPr sz="1050" b="0">
                <a:solidFill>
                  <a:srgbClr val="8B98B0"/>
                </a:solidFill>
                <a:latin typeface="Calibri"/>
              </a:rPr>
              <a:t>Gelernte Muster aus deinen Sessions</a:t>
            </a:r>
          </a:p>
          <a:p>
            <a:pPr algn="l"/>
            <a:r>
              <a:rPr sz="950" b="0">
                <a:solidFill>
                  <a:srgbClr val="818CF8"/>
                </a:solidFill>
                <a:latin typeface="Calibri"/>
              </a:rPr>
              <a:t>homunculus/instincts/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53949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BBF24"/>
                </a:solidFill>
                <a:latin typeface="Calibri"/>
              </a:rPr>
              <a:t>Regel:  Durable Logik → Skills.  3× getippt → /skill-create.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384048"/>
            <a:ext cx="146304" cy="146304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017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2D3EE"/>
                </a:solidFill>
                <a:latin typeface="Calibri"/>
              </a:rPr>
              <a:t>KATALOG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301752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8B98B0"/>
                </a:solidFill>
                <a:latin typeface="Calibri"/>
              </a:rPr>
              <a:t>4 / 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110642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E6EDF8"/>
                </a:solidFill>
                <a:latin typeface="Calibri"/>
              </a:rPr>
              <a:t>§4 Agent- &amp; Skill-Katalog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81328"/>
            <a:ext cx="2011680" cy="41148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40080" y="1737360"/>
            <a:ext cx="5166360" cy="1965960"/>
          </a:xfrm>
          <a:prstGeom prst="roundRect">
            <a:avLst>
              <a:gd name="adj" fmla="val 6000"/>
            </a:avLst>
          </a:prstGeom>
          <a:solidFill>
            <a:srgbClr val="14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1874519"/>
            <a:ext cx="4800600" cy="169163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>
                <a:solidFill>
                  <a:srgbClr val="22D3EE"/>
                </a:solidFill>
                <a:latin typeface="Calibri"/>
              </a:rPr>
              <a:t>Core-Workflow-Agents</a:t>
            </a:r>
          </a:p>
          <a:p>
            <a:pPr algn="l"/>
            <a:r>
              <a:rPr sz="1050" b="0">
                <a:solidFill>
                  <a:srgbClr val="E6EDF8"/>
                </a:solidFill>
                <a:latin typeface="Calibri"/>
              </a:rPr>
              <a:t>planner · architect / code-architect · code-explorer · tdd-guide · code-reviewer · security-reviewer · build-error-resolver · refactor-cleaner · e2e-runner · doc-updater · performance-optimizer · silent-failure-hunter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0" y="1737360"/>
            <a:ext cx="5166360" cy="1965960"/>
          </a:xfrm>
          <a:prstGeom prst="roundRect">
            <a:avLst>
              <a:gd name="adj" fmla="val 6000"/>
            </a:avLst>
          </a:prstGeom>
          <a:solidFill>
            <a:srgbClr val="14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0" y="1874519"/>
            <a:ext cx="4800600" cy="169163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>
                <a:solidFill>
                  <a:srgbClr val="22D3EE"/>
                </a:solidFill>
                <a:latin typeface="Calibri"/>
              </a:rPr>
              <a:t>Sprach-Reviewer</a:t>
            </a:r>
          </a:p>
          <a:p>
            <a:pPr algn="l"/>
            <a:r>
              <a:rPr sz="1050" b="0">
                <a:solidFill>
                  <a:srgbClr val="E6EDF8"/>
                </a:solidFill>
                <a:latin typeface="Calibri"/>
              </a:rPr>
              <a:t>python-reviewer · typescript-reviewer · react-reviewer · go-reviewer · rust-reviewer · cpp-reviewer · java-reviewer · kotlin-reviewer · swift-reviewer · csharp-reviewer · fsharp-reviewer · django-reviewer · fastapi-reviewer · flutter-reviewer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886200"/>
            <a:ext cx="5166360" cy="1965960"/>
          </a:xfrm>
          <a:prstGeom prst="roundRect">
            <a:avLst>
              <a:gd name="adj" fmla="val 6000"/>
            </a:avLst>
          </a:prstGeom>
          <a:solidFill>
            <a:srgbClr val="14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59" y="4023360"/>
            <a:ext cx="4800600" cy="169163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>
                <a:solidFill>
                  <a:srgbClr val="22D3EE"/>
                </a:solidFill>
                <a:latin typeface="Calibri"/>
              </a:rPr>
              <a:t>Build-Resolver</a:t>
            </a:r>
          </a:p>
          <a:p>
            <a:pPr algn="l"/>
            <a:r>
              <a:rPr sz="1050" b="0">
                <a:solidFill>
                  <a:srgbClr val="E6EDF8"/>
                </a:solidFill>
                <a:latin typeface="Calibri"/>
              </a:rPr>
              <a:t>go-build-resolver · rust-build-resolver · cpp-build-resolver · java-build-resolver · kotlin-build-resolver · swift-build-resolver · dart-build-resolver · django-build-resolver · react-build-resolver · pytorch-build-resolver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0" y="3886200"/>
            <a:ext cx="5166360" cy="1965960"/>
          </a:xfrm>
          <a:prstGeom prst="roundRect">
            <a:avLst>
              <a:gd name="adj" fmla="val 6000"/>
            </a:avLst>
          </a:prstGeom>
          <a:solidFill>
            <a:srgbClr val="14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0" y="4023360"/>
            <a:ext cx="4800600" cy="169163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>
                <a:solidFill>
                  <a:srgbClr val="22D3EE"/>
                </a:solidFill>
                <a:latin typeface="Calibri"/>
              </a:rPr>
              <a:t>Schlüssel-Skills</a:t>
            </a:r>
          </a:p>
          <a:p>
            <a:pPr algn="l"/>
            <a:r>
              <a:rPr sz="1050" b="0">
                <a:solidFill>
                  <a:srgbClr val="E6EDF8"/>
                </a:solidFill>
                <a:latin typeface="Calibri"/>
              </a:rPr>
              <a:t>tdd-workflow · verification-loop · code-tour · production-audit · eval-harness · iterative-retrieval · continuous-learning-v2 · strategic-compact · configure-ecc · council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5989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8B98B0"/>
                </a:solidFill>
                <a:latin typeface="Calibri"/>
              </a:rPr>
              <a:t>63 Agents · 21 Skills (core; 249 via --profile full) · claude-mem + superpowers koexistieren.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384048"/>
            <a:ext cx="146304" cy="146304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017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2D3EE"/>
                </a:solidFill>
                <a:latin typeface="Calibri"/>
              </a:rPr>
              <a:t>PIPELINE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301752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8B98B0"/>
                </a:solidFill>
                <a:latin typeface="Calibri"/>
              </a:rPr>
              <a:t>5 / 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110642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E6EDF8"/>
                </a:solidFill>
                <a:latin typeface="Calibri"/>
              </a:rPr>
              <a:t>§5 Workflow — die 5 Phasen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81328"/>
            <a:ext cx="2011680" cy="41148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02920" y="2011680"/>
            <a:ext cx="1993392" cy="2103120"/>
          </a:xfrm>
          <a:prstGeom prst="roundRect">
            <a:avLst>
              <a:gd name="adj" fmla="val 6000"/>
            </a:avLst>
          </a:prstGeom>
          <a:solidFill>
            <a:srgbClr val="141A2E"/>
          </a:solidFill>
          <a:ln w="952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12648" y="2176272"/>
            <a:ext cx="1773936" cy="18287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000" b="1">
                <a:solidFill>
                  <a:srgbClr val="22D3EE"/>
                </a:solidFill>
                <a:latin typeface="Calibri"/>
              </a:rPr>
              <a:t>1</a:t>
            </a:r>
          </a:p>
          <a:p>
            <a:pPr algn="l"/>
            <a:r>
              <a:rPr sz="1400" b="1">
                <a:solidFill>
                  <a:srgbClr val="E6EDF8"/>
                </a:solidFill>
                <a:latin typeface="Calibri"/>
              </a:rPr>
              <a:t>RESEARCH</a:t>
            </a:r>
          </a:p>
          <a:p>
            <a:pPr algn="l"/>
            <a:r>
              <a:rPr sz="1000" b="0">
                <a:solidFill>
                  <a:srgbClr val="8B98B0"/>
                </a:solidFill>
                <a:latin typeface="Calibri"/>
              </a:rPr>
              <a:t>Explore · claude-mem</a:t>
            </a:r>
          </a:p>
          <a:p>
            <a:pPr algn="l"/>
            <a:r>
              <a:rPr sz="1000" b="0">
                <a:solidFill>
                  <a:srgbClr val="22D3EE"/>
                </a:solidFill>
                <a:latin typeface="Calibri"/>
              </a:rPr>
              <a:t>→ research.md</a:t>
            </a:r>
          </a:p>
        </p:txBody>
      </p:sp>
      <p:sp>
        <p:nvSpPr>
          <p:cNvPr id="9" name="Chevron 8"/>
          <p:cNvSpPr/>
          <p:nvPr/>
        </p:nvSpPr>
        <p:spPr>
          <a:xfrm>
            <a:off x="2514600" y="2898648"/>
            <a:ext cx="256032" cy="329184"/>
          </a:xfrm>
          <a:prstGeom prst="chevron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788920" y="2011680"/>
            <a:ext cx="1993392" cy="2103120"/>
          </a:xfrm>
          <a:prstGeom prst="roundRect">
            <a:avLst>
              <a:gd name="adj" fmla="val 6000"/>
            </a:avLst>
          </a:prstGeom>
          <a:solidFill>
            <a:srgbClr val="141A2E"/>
          </a:solidFill>
          <a:ln w="952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98648" y="2176272"/>
            <a:ext cx="1773936" cy="18287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000" b="1">
                <a:solidFill>
                  <a:srgbClr val="22D3EE"/>
                </a:solidFill>
                <a:latin typeface="Calibri"/>
              </a:rPr>
              <a:t>2</a:t>
            </a:r>
          </a:p>
          <a:p>
            <a:pPr algn="l"/>
            <a:r>
              <a:rPr sz="1400" b="1">
                <a:solidFill>
                  <a:srgbClr val="E6EDF8"/>
                </a:solidFill>
                <a:latin typeface="Calibri"/>
              </a:rPr>
              <a:t>PLAN</a:t>
            </a:r>
          </a:p>
          <a:p>
            <a:pPr algn="l"/>
            <a:r>
              <a:rPr sz="1000" b="0">
                <a:solidFill>
                  <a:srgbClr val="8B98B0"/>
                </a:solidFill>
                <a:latin typeface="Calibri"/>
              </a:rPr>
              <a:t>/plan</a:t>
            </a:r>
          </a:p>
          <a:p>
            <a:pPr algn="l"/>
            <a:r>
              <a:rPr sz="1000" b="0">
                <a:solidFill>
                  <a:srgbClr val="22D3EE"/>
                </a:solidFill>
                <a:latin typeface="Calibri"/>
              </a:rPr>
              <a:t>→ plan.md</a:t>
            </a:r>
          </a:p>
        </p:txBody>
      </p:sp>
      <p:sp>
        <p:nvSpPr>
          <p:cNvPr id="12" name="Chevron 11"/>
          <p:cNvSpPr/>
          <p:nvPr/>
        </p:nvSpPr>
        <p:spPr>
          <a:xfrm>
            <a:off x="4800600" y="2898648"/>
            <a:ext cx="256032" cy="329184"/>
          </a:xfrm>
          <a:prstGeom prst="chevron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074920" y="2011680"/>
            <a:ext cx="1993392" cy="2103120"/>
          </a:xfrm>
          <a:prstGeom prst="roundRect">
            <a:avLst>
              <a:gd name="adj" fmla="val 6000"/>
            </a:avLst>
          </a:prstGeom>
          <a:solidFill>
            <a:srgbClr val="141A2E"/>
          </a:solidFill>
          <a:ln w="952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84648" y="2176272"/>
            <a:ext cx="1773936" cy="18287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000" b="1">
                <a:solidFill>
                  <a:srgbClr val="22D3EE"/>
                </a:solidFill>
                <a:latin typeface="Calibri"/>
              </a:rPr>
              <a:t>3</a:t>
            </a:r>
          </a:p>
          <a:p>
            <a:pPr algn="l"/>
            <a:r>
              <a:rPr sz="1400" b="1">
                <a:solidFill>
                  <a:srgbClr val="E6EDF8"/>
                </a:solidFill>
                <a:latin typeface="Calibri"/>
              </a:rPr>
              <a:t>IMPLEMENT</a:t>
            </a:r>
          </a:p>
          <a:p>
            <a:pPr algn="l"/>
            <a:r>
              <a:rPr sz="1000" b="0">
                <a:solidFill>
                  <a:srgbClr val="8B98B0"/>
                </a:solidFill>
                <a:latin typeface="Calibri"/>
              </a:rPr>
              <a:t>/feature-dev + tdd-workflow</a:t>
            </a:r>
          </a:p>
          <a:p>
            <a:pPr algn="l"/>
            <a:r>
              <a:rPr sz="1000" b="0">
                <a:solidFill>
                  <a:srgbClr val="22D3EE"/>
                </a:solidFill>
                <a:latin typeface="Calibri"/>
              </a:rPr>
              <a:t>→ Code + Tests</a:t>
            </a:r>
          </a:p>
        </p:txBody>
      </p:sp>
      <p:sp>
        <p:nvSpPr>
          <p:cNvPr id="15" name="Chevron 14"/>
          <p:cNvSpPr/>
          <p:nvPr/>
        </p:nvSpPr>
        <p:spPr>
          <a:xfrm>
            <a:off x="7086600" y="2898648"/>
            <a:ext cx="256032" cy="329184"/>
          </a:xfrm>
          <a:prstGeom prst="chevron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7360920" y="2011680"/>
            <a:ext cx="1993392" cy="2103120"/>
          </a:xfrm>
          <a:prstGeom prst="roundRect">
            <a:avLst>
              <a:gd name="adj" fmla="val 6000"/>
            </a:avLst>
          </a:prstGeom>
          <a:solidFill>
            <a:srgbClr val="141A2E"/>
          </a:solidFill>
          <a:ln w="952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70648" y="2176272"/>
            <a:ext cx="1773936" cy="18287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000" b="1">
                <a:solidFill>
                  <a:srgbClr val="22D3EE"/>
                </a:solidFill>
                <a:latin typeface="Calibri"/>
              </a:rPr>
              <a:t>4</a:t>
            </a:r>
          </a:p>
          <a:p>
            <a:pPr algn="l"/>
            <a:r>
              <a:rPr sz="1400" b="1">
                <a:solidFill>
                  <a:srgbClr val="E6EDF8"/>
                </a:solidFill>
                <a:latin typeface="Calibri"/>
              </a:rPr>
              <a:t>REVIEW</a:t>
            </a:r>
          </a:p>
          <a:p>
            <a:pPr algn="l"/>
            <a:r>
              <a:rPr sz="1000" b="0">
                <a:solidFill>
                  <a:srgbClr val="8B98B0"/>
                </a:solidFill>
                <a:latin typeface="Calibri"/>
              </a:rPr>
              <a:t>/code-review</a:t>
            </a:r>
          </a:p>
          <a:p>
            <a:pPr algn="l"/>
            <a:r>
              <a:rPr sz="1000" b="0">
                <a:solidFill>
                  <a:srgbClr val="22D3EE"/>
                </a:solidFill>
                <a:latin typeface="Calibri"/>
              </a:rPr>
              <a:t>→ review.md</a:t>
            </a:r>
          </a:p>
        </p:txBody>
      </p:sp>
      <p:sp>
        <p:nvSpPr>
          <p:cNvPr id="18" name="Chevron 17"/>
          <p:cNvSpPr/>
          <p:nvPr/>
        </p:nvSpPr>
        <p:spPr>
          <a:xfrm>
            <a:off x="9372600" y="2898648"/>
            <a:ext cx="256032" cy="329184"/>
          </a:xfrm>
          <a:prstGeom prst="chevron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9646920" y="2011680"/>
            <a:ext cx="1993392" cy="2103120"/>
          </a:xfrm>
          <a:prstGeom prst="roundRect">
            <a:avLst>
              <a:gd name="adj" fmla="val 6000"/>
            </a:avLst>
          </a:prstGeom>
          <a:solidFill>
            <a:srgbClr val="141A2E"/>
          </a:solidFill>
          <a:ln w="952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756648" y="2176272"/>
            <a:ext cx="1773936" cy="18287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000" b="1">
                <a:solidFill>
                  <a:srgbClr val="22D3EE"/>
                </a:solidFill>
                <a:latin typeface="Calibri"/>
              </a:rPr>
              <a:t>5</a:t>
            </a:r>
          </a:p>
          <a:p>
            <a:pPr algn="l"/>
            <a:r>
              <a:rPr sz="1400" b="1">
                <a:solidFill>
                  <a:srgbClr val="E6EDF8"/>
                </a:solidFill>
                <a:latin typeface="Calibri"/>
              </a:rPr>
              <a:t>VERIFY</a:t>
            </a:r>
          </a:p>
          <a:p>
            <a:pPr algn="l"/>
            <a:r>
              <a:rPr sz="1000" b="0">
                <a:solidFill>
                  <a:srgbClr val="8B98B0"/>
                </a:solidFill>
                <a:latin typeface="Calibri"/>
              </a:rPr>
              <a:t>Tests · Build · /build-fix</a:t>
            </a:r>
          </a:p>
          <a:p>
            <a:pPr algn="l"/>
            <a:r>
              <a:rPr sz="1000" b="0">
                <a:solidFill>
                  <a:srgbClr val="22D3EE"/>
                </a:solidFill>
                <a:latin typeface="Calibri"/>
              </a:rPr>
              <a:t>→ grün ↺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4526280"/>
            <a:ext cx="109728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0">
                <a:solidFill>
                  <a:srgbClr val="8B98B0"/>
                </a:solidFill>
                <a:latin typeface="Calibri"/>
              </a:rPr>
              <a:t>Ein Input, ein Output je Schritt — in Dateien speichern.</a:t>
            </a:r>
          </a:p>
          <a:p>
            <a:pPr algn="l"/>
            <a:r>
              <a:rPr sz="1400" b="0">
                <a:solidFill>
                  <a:srgbClr val="8B98B0"/>
                </a:solidFill>
                <a:latin typeface="Calibri"/>
              </a:rPr>
              <a:t>/clear zwischen großen Phasen — Explorations-Kontext ist für die Umsetzung irrelevant.</a:t>
            </a:r>
          </a:p>
          <a:p>
            <a:pPr algn="l"/>
            <a:r>
              <a:rPr sz="1400" b="0">
                <a:solidFill>
                  <a:srgbClr val="8B98B0"/>
                </a:solidFill>
                <a:latin typeface="Calibri"/>
              </a:rPr>
              <a:t>Subagents immer objektiven Kontext mitgeben, nicht nur die Frage.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384048"/>
            <a:ext cx="146304" cy="146304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017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2D3EE"/>
                </a:solidFill>
                <a:latin typeface="Calibri"/>
              </a:rPr>
              <a:t>ONBOARDING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301752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8B98B0"/>
                </a:solidFill>
                <a:latin typeface="Calibri"/>
              </a:rPr>
              <a:t>6 / 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110642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E6EDF8"/>
                </a:solidFill>
                <a:latin typeface="Calibri"/>
              </a:rPr>
              <a:t>§6a Projekt-Onboarding mit /ecc-onboard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81328"/>
            <a:ext cx="2011680" cy="41148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02920" y="1965960"/>
            <a:ext cx="2139696" cy="2743200"/>
          </a:xfrm>
          <a:prstGeom prst="roundRect">
            <a:avLst>
              <a:gd name="adj" fmla="val 6000"/>
            </a:avLst>
          </a:prstGeom>
          <a:solidFill>
            <a:srgbClr val="141A2E"/>
          </a:solidFill>
          <a:ln w="952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9224" y="2130552"/>
            <a:ext cx="1847088" cy="2468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>
                <a:solidFill>
                  <a:srgbClr val="22D3EE"/>
                </a:solidFill>
                <a:latin typeface="Calibri"/>
              </a:rPr>
              <a:t>1 · Detect</a:t>
            </a:r>
          </a:p>
          <a:p>
            <a:pPr algn="l"/>
            <a:r>
              <a:rPr sz="1100" b="0">
                <a:solidFill>
                  <a:srgbClr val="E6EDF8"/>
                </a:solidFill>
                <a:latin typeface="Calibri"/>
              </a:rPr>
              <a:t>Stack erkennen (package.json, go.mod …)</a:t>
            </a:r>
          </a:p>
          <a:p>
            <a:pPr algn="l"/>
            <a:r>
              <a:rPr sz="400" b="0">
                <a:solidFill>
                  <a:srgbClr val="E6EDF8"/>
                </a:solidFill>
                <a:latin typeface="Calibri"/>
              </a:rPr>
              <a:t/>
            </a:r>
          </a:p>
          <a:p>
            <a:pPr algn="l"/>
            <a:r>
              <a:rPr sz="1100" b="0">
                <a:solidFill>
                  <a:srgbClr val="818CF8"/>
                </a:solidFill>
                <a:latin typeface="Calibri"/>
              </a:rPr>
              <a:t>→ Profil + Sprach-Packs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807208" y="1965960"/>
            <a:ext cx="2139696" cy="2743200"/>
          </a:xfrm>
          <a:prstGeom prst="roundRect">
            <a:avLst>
              <a:gd name="adj" fmla="val 6000"/>
            </a:avLst>
          </a:prstGeom>
          <a:solidFill>
            <a:srgbClr val="141A2E"/>
          </a:solidFill>
          <a:ln w="952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53512" y="2130552"/>
            <a:ext cx="1847088" cy="2468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>
                <a:solidFill>
                  <a:srgbClr val="22D3EE"/>
                </a:solidFill>
                <a:latin typeface="Calibri"/>
              </a:rPr>
              <a:t>2 · Dry-Run</a:t>
            </a:r>
          </a:p>
          <a:p>
            <a:pPr algn="l"/>
            <a:r>
              <a:rPr sz="1100" b="0">
                <a:solidFill>
                  <a:srgbClr val="E6EDF8"/>
                </a:solidFill>
                <a:latin typeface="Calibri"/>
              </a:rPr>
              <a:t>install-apply --dry-run</a:t>
            </a:r>
          </a:p>
          <a:p>
            <a:pPr algn="l"/>
            <a:r>
              <a:rPr sz="400" b="0">
                <a:solidFill>
                  <a:srgbClr val="E6EDF8"/>
                </a:solidFill>
                <a:latin typeface="Calibri"/>
              </a:rPr>
              <a:t/>
            </a:r>
          </a:p>
          <a:p>
            <a:pPr algn="l"/>
            <a:r>
              <a:rPr sz="1100" b="0">
                <a:solidFill>
                  <a:srgbClr val="818CF8"/>
                </a:solidFill>
                <a:latin typeface="Calibri"/>
              </a:rPr>
              <a:t>→ Plan ohne Schreiben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111496" y="1965960"/>
            <a:ext cx="2139696" cy="2743200"/>
          </a:xfrm>
          <a:prstGeom prst="roundRect">
            <a:avLst>
              <a:gd name="adj" fmla="val 6000"/>
            </a:avLst>
          </a:prstGeom>
          <a:solidFill>
            <a:srgbClr val="141A2E"/>
          </a:solidFill>
          <a:ln w="952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257800" y="2130552"/>
            <a:ext cx="1847088" cy="2468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>
                <a:solidFill>
                  <a:srgbClr val="22D3EE"/>
                </a:solidFill>
                <a:latin typeface="Calibri"/>
              </a:rPr>
              <a:t>3 · OK</a:t>
            </a:r>
          </a:p>
          <a:p>
            <a:pPr algn="l"/>
            <a:r>
              <a:rPr sz="1100" b="0">
                <a:solidFill>
                  <a:srgbClr val="E6EDF8"/>
                </a:solidFill>
                <a:latin typeface="Calibri"/>
              </a:rPr>
              <a:t>1× Bestätigung des Users</a:t>
            </a:r>
          </a:p>
          <a:p>
            <a:pPr algn="l"/>
            <a:r>
              <a:rPr sz="400" b="0">
                <a:solidFill>
                  <a:srgbClr val="E6EDF8"/>
                </a:solidFill>
                <a:latin typeface="Calibri"/>
              </a:rPr>
              <a:t/>
            </a:r>
          </a:p>
          <a:p>
            <a:pPr algn="l"/>
            <a:r>
              <a:rPr sz="1100" b="0">
                <a:solidFill>
                  <a:srgbClr val="818CF8"/>
                </a:solidFill>
                <a:latin typeface="Calibri"/>
              </a:rPr>
              <a:t>→ Freigabe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415783" y="1965960"/>
            <a:ext cx="2139696" cy="2743200"/>
          </a:xfrm>
          <a:prstGeom prst="roundRect">
            <a:avLst>
              <a:gd name="adj" fmla="val 6000"/>
            </a:avLst>
          </a:prstGeom>
          <a:solidFill>
            <a:srgbClr val="141A2E"/>
          </a:solidFill>
          <a:ln w="952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562088" y="2130552"/>
            <a:ext cx="1847088" cy="2468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>
                <a:solidFill>
                  <a:srgbClr val="22D3EE"/>
                </a:solidFill>
                <a:latin typeface="Calibri"/>
              </a:rPr>
              <a:t>4 · Install</a:t>
            </a:r>
          </a:p>
          <a:p>
            <a:pPr algn="l"/>
            <a:r>
              <a:rPr sz="1100" b="0">
                <a:solidFill>
                  <a:srgbClr val="E6EDF8"/>
                </a:solidFill>
                <a:latin typeface="Calibri"/>
              </a:rPr>
              <a:t>install-apply --target claude-project</a:t>
            </a:r>
          </a:p>
          <a:p>
            <a:pPr algn="l"/>
            <a:r>
              <a:rPr sz="400" b="0">
                <a:solidFill>
                  <a:srgbClr val="E6EDF8"/>
                </a:solidFill>
                <a:latin typeface="Calibri"/>
              </a:rPr>
              <a:t/>
            </a:r>
          </a:p>
          <a:p>
            <a:pPr algn="l"/>
            <a:r>
              <a:rPr sz="1100" b="0">
                <a:solidFill>
                  <a:srgbClr val="818CF8"/>
                </a:solidFill>
                <a:latin typeface="Calibri"/>
              </a:rPr>
              <a:t>→ .claude/rules/ecc + skills/ecc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720072" y="1965960"/>
            <a:ext cx="2139696" cy="2743200"/>
          </a:xfrm>
          <a:prstGeom prst="roundRect">
            <a:avLst>
              <a:gd name="adj" fmla="val 6000"/>
            </a:avLst>
          </a:prstGeom>
          <a:solidFill>
            <a:srgbClr val="141A2E"/>
          </a:solidFill>
          <a:ln w="952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866376" y="2130552"/>
            <a:ext cx="1847088" cy="2468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>
                <a:solidFill>
                  <a:srgbClr val="22D3EE"/>
                </a:solidFill>
                <a:latin typeface="Calibri"/>
              </a:rPr>
              <a:t>5 · Kontext</a:t>
            </a:r>
          </a:p>
          <a:p>
            <a:pPr algn="l"/>
            <a:r>
              <a:rPr sz="1100" b="0">
                <a:solidFill>
                  <a:srgbClr val="E6EDF8"/>
                </a:solidFill>
                <a:latin typeface="Calibri"/>
              </a:rPr>
              <a:t>Templates mit echten Werten füllen</a:t>
            </a:r>
          </a:p>
          <a:p>
            <a:pPr algn="l"/>
            <a:r>
              <a:rPr sz="400" b="0">
                <a:solidFill>
                  <a:srgbClr val="E6EDF8"/>
                </a:solidFill>
                <a:latin typeface="Calibri"/>
              </a:rPr>
              <a:t/>
            </a:r>
          </a:p>
          <a:p>
            <a:pPr algn="l"/>
            <a:r>
              <a:rPr sz="1100" b="0">
                <a:solidFill>
                  <a:srgbClr val="818CF8"/>
                </a:solidFill>
                <a:latin typeface="Calibri"/>
              </a:rPr>
              <a:t>→ PROJECT_RULES.md + state/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120640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>
                <a:solidFill>
                  <a:srgbClr val="FBBF24"/>
                </a:solidFill>
                <a:latin typeface="Calibri"/>
              </a:rPr>
              <a:t>Aus dem Zielprojekt ausführen — Install landet im aktuellen cwd.</a:t>
            </a:r>
          </a:p>
          <a:p>
            <a:pPr algn="l"/>
            <a:r>
              <a:rPr sz="1400" b="0">
                <a:solidFill>
                  <a:srgbClr val="8B98B0"/>
                </a:solidFill>
                <a:latin typeface="Calibri"/>
              </a:rPr>
              <a:t>Idempotent: erneut ausführen merged, überschreibt nichts blind.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384048"/>
            <a:ext cx="146304" cy="146304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017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2D3EE"/>
                </a:solidFill>
                <a:latin typeface="Calibri"/>
              </a:rPr>
              <a:t>CODEMAPS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301752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8B98B0"/>
                </a:solidFill>
                <a:latin typeface="Calibri"/>
              </a:rPr>
              <a:t>7 / 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110642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E6EDF8"/>
                </a:solidFill>
                <a:latin typeface="Calibri"/>
              </a:rPr>
              <a:t>§6b Codebase EINMAL erkunden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81328"/>
            <a:ext cx="2011680" cy="41148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9164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818CF8"/>
                </a:solidFill>
                <a:latin typeface="Calibri"/>
              </a:rPr>
              <a:t>Prinzip: einmal kartieren → in Dateien festhalten → künftig die Karte lesen statt neu suchen.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2514600"/>
          <a:ext cx="10972799" cy="265176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3017520"/>
                <a:gridCol w="7955279"/>
              </a:tblGrid>
              <a:tr h="44196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22D3EE"/>
                          </a:solidFill>
                          <a:latin typeface="Calibri"/>
                        </a:rPr>
                        <a:t>Datei (docs/CODEMAPS/)</a:t>
                      </a:r>
                    </a:p>
                  </a:txBody>
                  <a:tcPr marT="36576" marB="36576" marL="73152" marR="73152">
                    <a:solidFill>
                      <a:srgbClr val="0E142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22D3EE"/>
                          </a:solidFill>
                          <a:latin typeface="Calibri"/>
                        </a:rPr>
                        <a:t>Inhalt</a:t>
                      </a:r>
                    </a:p>
                  </a:txBody>
                  <a:tcPr marT="36576" marB="36576" marL="73152" marR="73152">
                    <a:solidFill>
                      <a:srgbClr val="0E1424"/>
                    </a:solidFill>
                  </a:tcPr>
                </a:tc>
              </a:tr>
              <a:tr h="441960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E6EDF8"/>
                          </a:solidFill>
                          <a:latin typeface="Calibri"/>
                        </a:rPr>
                        <a:t>architecture.md</a:t>
                      </a:r>
                    </a:p>
                  </a:txBody>
                  <a:tcPr marT="36576" marB="36576" marL="73152" marR="73152">
                    <a:solidFill>
                      <a:srgbClr val="141A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E6EDF8"/>
                          </a:solidFill>
                          <a:latin typeface="Calibri"/>
                        </a:rPr>
                        <a:t>System-Diagramm, Service-Grenzen, Datenfluss</a:t>
                      </a:r>
                    </a:p>
                  </a:txBody>
                  <a:tcPr marT="36576" marB="36576" marL="73152" marR="73152">
                    <a:solidFill>
                      <a:srgbClr val="141A2E"/>
                    </a:solidFill>
                  </a:tcPr>
                </a:tc>
              </a:tr>
              <a:tr h="441960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E6EDF8"/>
                          </a:solidFill>
                          <a:latin typeface="Calibri"/>
                        </a:rPr>
                        <a:t>backend.md</a:t>
                      </a:r>
                    </a:p>
                  </a:txBody>
                  <a:tcPr marT="36576" marB="36576" marL="73152" marR="73152">
                    <a:solidFill>
                      <a:srgbClr val="0A0E1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E6EDF8"/>
                          </a:solidFill>
                          <a:latin typeface="Calibri"/>
                        </a:rPr>
                        <a:t>Routes → Controller → Service → Repository</a:t>
                      </a:r>
                    </a:p>
                  </a:txBody>
                  <a:tcPr marT="36576" marB="36576" marL="73152" marR="73152">
                    <a:solidFill>
                      <a:srgbClr val="0A0E1A"/>
                    </a:solidFill>
                  </a:tcPr>
                </a:tc>
              </a:tr>
              <a:tr h="441960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E6EDF8"/>
                          </a:solidFill>
                          <a:latin typeface="Calibri"/>
                        </a:rPr>
                        <a:t>frontend.md</a:t>
                      </a:r>
                    </a:p>
                  </a:txBody>
                  <a:tcPr marT="36576" marB="36576" marL="73152" marR="73152">
                    <a:solidFill>
                      <a:srgbClr val="141A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E6EDF8"/>
                          </a:solidFill>
                          <a:latin typeface="Calibri"/>
                        </a:rPr>
                        <a:t>Page-Tree, Komponenten, State-Flow</a:t>
                      </a:r>
                    </a:p>
                  </a:txBody>
                  <a:tcPr marT="36576" marB="36576" marL="73152" marR="73152">
                    <a:solidFill>
                      <a:srgbClr val="141A2E"/>
                    </a:solidFill>
                  </a:tcPr>
                </a:tc>
              </a:tr>
              <a:tr h="441960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E6EDF8"/>
                          </a:solidFill>
                          <a:latin typeface="Calibri"/>
                        </a:rPr>
                        <a:t>data.md</a:t>
                      </a:r>
                    </a:p>
                  </a:txBody>
                  <a:tcPr marT="36576" marB="36576" marL="73152" marR="73152">
                    <a:solidFill>
                      <a:srgbClr val="0A0E1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E6EDF8"/>
                          </a:solidFill>
                          <a:latin typeface="Calibri"/>
                        </a:rPr>
                        <a:t>Tabellen, Relationen, Migrationen</a:t>
                      </a:r>
                    </a:p>
                  </a:txBody>
                  <a:tcPr marT="36576" marB="36576" marL="73152" marR="73152">
                    <a:solidFill>
                      <a:srgbClr val="0A0E1A"/>
                    </a:solidFill>
                  </a:tcPr>
                </a:tc>
              </a:tr>
              <a:tr h="441960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E6EDF8"/>
                          </a:solidFill>
                          <a:latin typeface="Calibri"/>
                        </a:rPr>
                        <a:t>dependencies.md</a:t>
                      </a:r>
                    </a:p>
                  </a:txBody>
                  <a:tcPr marT="36576" marB="36576" marL="73152" marR="73152">
                    <a:solidFill>
                      <a:srgbClr val="141A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E6EDF8"/>
                          </a:solidFill>
                          <a:latin typeface="Calibri"/>
                        </a:rPr>
                        <a:t>externe Dienste, Integrationen</a:t>
                      </a:r>
                    </a:p>
                  </a:txBody>
                  <a:tcPr marT="36576" marB="36576" marL="73152" marR="73152">
                    <a:solidFill>
                      <a:srgbClr val="141A2E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5349240"/>
            <a:ext cx="10972800" cy="118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>
                <a:solidFill>
                  <a:srgbClr val="FBBF24"/>
                </a:solidFill>
                <a:latin typeface="Calibri"/>
              </a:rPr>
              <a:t>Snapshot — nach Architektur-Änderung neu bauen. Fremdes Repo: code-tour / claude-mem smart-explore.</a:t>
            </a:r>
          </a:p>
          <a:p>
            <a:pPr algn="l"/>
            <a:r>
              <a:rPr sz="1300" b="0">
                <a:solidFill>
                  <a:srgbClr val="8B98B0"/>
                </a:solidFill>
                <a:latin typeface="Calibri"/>
              </a:rPr>
              <a:t>Pro Aufgabe: research.md (Explore-Agent) → /plan. claude-mem injiziert Alt-Kontext automatisch.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384048"/>
            <a:ext cx="146304" cy="146304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017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2D3EE"/>
                </a:solidFill>
                <a:latin typeface="Calibri"/>
              </a:rPr>
              <a:t>CHEAT-SHEET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301752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8B98B0"/>
                </a:solidFill>
                <a:latin typeface="Calibri"/>
              </a:rPr>
              <a:t>8 / 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110642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E6EDF8"/>
                </a:solidFill>
                <a:latin typeface="Calibri"/>
              </a:rPr>
              <a:t>§7 Cheat-Sheet — Command (1/2)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81328"/>
            <a:ext cx="2011680" cy="41148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737360"/>
          <a:ext cx="11155680" cy="457200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743200"/>
                <a:gridCol w="4023360"/>
                <a:gridCol w="4389120"/>
              </a:tblGrid>
              <a:tr h="508000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22D3EE"/>
                          </a:solidFill>
                          <a:latin typeface="Calibri"/>
                        </a:rPr>
                        <a:t>Situation</a:t>
                      </a:r>
                    </a:p>
                  </a:txBody>
                  <a:tcPr marT="36576" marB="36576" marL="73152" marR="73152">
                    <a:solidFill>
                      <a:srgbClr val="0E142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22D3EE"/>
                          </a:solidFill>
                          <a:latin typeface="Calibri"/>
                        </a:rPr>
                        <a:t>Command</a:t>
                      </a:r>
                    </a:p>
                  </a:txBody>
                  <a:tcPr marT="36576" marB="36576" marL="73152" marR="73152">
                    <a:solidFill>
                      <a:srgbClr val="0E142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22D3EE"/>
                          </a:solidFill>
                          <a:latin typeface="Calibri"/>
                        </a:rPr>
                        <a:t>Zweck</a:t>
                      </a:r>
                    </a:p>
                  </a:txBody>
                  <a:tcPr marT="36576" marB="36576" marL="73152" marR="73152">
                    <a:solidFill>
                      <a:srgbClr val="0E1424"/>
                    </a:solidFill>
                  </a:tcPr>
                </a:tc>
              </a:tr>
              <a:tr h="508000"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E6EDF8"/>
                          </a:solidFill>
                          <a:latin typeface="Calibri"/>
                        </a:rPr>
                        <a:t>Neues Feature planen</a:t>
                      </a:r>
                    </a:p>
                  </a:txBody>
                  <a:tcPr marT="36576" marB="36576" marL="73152" marR="73152">
                    <a:solidFill>
                      <a:srgbClr val="141A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E6EDF8"/>
                          </a:solidFill>
                          <a:latin typeface="Calibri"/>
                        </a:rPr>
                        <a:t>/plan</a:t>
                      </a:r>
                    </a:p>
                  </a:txBody>
                  <a:tcPr marT="36576" marB="36576" marL="73152" marR="73152">
                    <a:solidFill>
                      <a:srgbClr val="141A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E6EDF8"/>
                          </a:solidFill>
                          <a:latin typeface="Calibri"/>
                        </a:rPr>
                        <a:t>Anforderungen, Risiken, Schritte — wartet auf dein OK</a:t>
                      </a:r>
                    </a:p>
                  </a:txBody>
                  <a:tcPr marT="36576" marB="36576" marL="73152" marR="73152">
                    <a:solidFill>
                      <a:srgbClr val="141A2E"/>
                    </a:solidFill>
                  </a:tcPr>
                </a:tc>
              </a:tr>
              <a:tr h="508000"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E6EDF8"/>
                          </a:solidFill>
                          <a:latin typeface="Calibri"/>
                        </a:rPr>
                        <a:t>Feature umsetzen</a:t>
                      </a:r>
                    </a:p>
                  </a:txBody>
                  <a:tcPr marT="36576" marB="36576" marL="73152" marR="73152">
                    <a:solidFill>
                      <a:srgbClr val="0A0E1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E6EDF8"/>
                          </a:solidFill>
                          <a:latin typeface="Calibri"/>
                        </a:rPr>
                        <a:t>/feature-dev</a:t>
                      </a:r>
                    </a:p>
                  </a:txBody>
                  <a:tcPr marT="36576" marB="36576" marL="73152" marR="73152">
                    <a:solidFill>
                      <a:srgbClr val="0A0E1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E6EDF8"/>
                          </a:solidFill>
                          <a:latin typeface="Calibri"/>
                        </a:rPr>
                        <a:t>nutzt Skills/Agents, TDD zuerst</a:t>
                      </a:r>
                    </a:p>
                  </a:txBody>
                  <a:tcPr marT="36576" marB="36576" marL="73152" marR="73152">
                    <a:solidFill>
                      <a:srgbClr val="0A0E1A"/>
                    </a:solidFill>
                  </a:tcPr>
                </a:tc>
              </a:tr>
              <a:tr h="508000"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E6EDF8"/>
                          </a:solidFill>
                          <a:latin typeface="Calibri"/>
                        </a:rPr>
                        <a:t>Projekt ECC-ready machen</a:t>
                      </a:r>
                    </a:p>
                  </a:txBody>
                  <a:tcPr marT="36576" marB="36576" marL="73152" marR="73152">
                    <a:solidFill>
                      <a:srgbClr val="141A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E6EDF8"/>
                          </a:solidFill>
                          <a:latin typeface="Calibri"/>
                        </a:rPr>
                        <a:t>/ecc-onboard</a:t>
                      </a:r>
                    </a:p>
                  </a:txBody>
                  <a:tcPr marT="36576" marB="36576" marL="73152" marR="73152">
                    <a:solidFill>
                      <a:srgbClr val="141A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E6EDF8"/>
                          </a:solidFill>
                          <a:latin typeface="Calibri"/>
                        </a:rPr>
                        <a:t>Stack erkennen → 1× OK → Rules/Skills + PROJECT_RULES.md + state/</a:t>
                      </a:r>
                    </a:p>
                  </a:txBody>
                  <a:tcPr marT="36576" marB="36576" marL="73152" marR="73152">
                    <a:solidFill>
                      <a:srgbClr val="141A2E"/>
                    </a:solidFill>
                  </a:tcPr>
                </a:tc>
              </a:tr>
              <a:tr h="508000"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E6EDF8"/>
                          </a:solidFill>
                          <a:latin typeface="Calibri"/>
                        </a:rPr>
                        <a:t>Codebase kartieren (1×)</a:t>
                      </a:r>
                    </a:p>
                  </a:txBody>
                  <a:tcPr marT="36576" marB="36576" marL="73152" marR="73152">
                    <a:solidFill>
                      <a:srgbClr val="0A0E1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E6EDF8"/>
                          </a:solidFill>
                          <a:latin typeface="Calibri"/>
                        </a:rPr>
                        <a:t>/update-codemaps</a:t>
                      </a:r>
                    </a:p>
                  </a:txBody>
                  <a:tcPr marT="36576" marB="36576" marL="73152" marR="73152">
                    <a:solidFill>
                      <a:srgbClr val="0A0E1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E6EDF8"/>
                          </a:solidFill>
                          <a:latin typeface="Calibri"/>
                        </a:rPr>
                        <a:t>token-arme Architektur-Karten in docs/CODEMAPS/ — statt neu suchen</a:t>
                      </a:r>
                    </a:p>
                  </a:txBody>
                  <a:tcPr marT="36576" marB="36576" marL="73152" marR="73152">
                    <a:solidFill>
                      <a:srgbClr val="0A0E1A"/>
                    </a:solidFill>
                  </a:tcPr>
                </a:tc>
              </a:tr>
              <a:tr h="508000"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E6EDF8"/>
                          </a:solidFill>
                          <a:latin typeface="Calibri"/>
                        </a:rPr>
                        <a:t>Fremdes Repo verstehen</a:t>
                      </a:r>
                    </a:p>
                  </a:txBody>
                  <a:tcPr marT="36576" marB="36576" marL="73152" marR="73152">
                    <a:solidFill>
                      <a:srgbClr val="141A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E6EDF8"/>
                          </a:solidFill>
                          <a:latin typeface="Calibri"/>
                        </a:rPr>
                        <a:t>/update-codemaps · code-tour · smart-explore</a:t>
                      </a:r>
                    </a:p>
                  </a:txBody>
                  <a:tcPr marT="36576" marB="36576" marL="73152" marR="73152">
                    <a:solidFill>
                      <a:srgbClr val="141A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E6EDF8"/>
                          </a:solidFill>
                          <a:latin typeface="Calibri"/>
                        </a:rPr>
                        <a:t>Architektur kartieren, gefuehrte Touren, Struktur-Suche</a:t>
                      </a:r>
                    </a:p>
                  </a:txBody>
                  <a:tcPr marT="36576" marB="36576" marL="73152" marR="73152">
                    <a:solidFill>
                      <a:srgbClr val="141A2E"/>
                    </a:solidFill>
                  </a:tcPr>
                </a:tc>
              </a:tr>
              <a:tr h="508000"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E6EDF8"/>
                          </a:solidFill>
                          <a:latin typeface="Calibri"/>
                        </a:rPr>
                        <a:t>Code geschrieben</a:t>
                      </a:r>
                    </a:p>
                  </a:txBody>
                  <a:tcPr marT="36576" marB="36576" marL="73152" marR="73152">
                    <a:solidFill>
                      <a:srgbClr val="0A0E1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E6EDF8"/>
                          </a:solidFill>
                          <a:latin typeface="Calibri"/>
                        </a:rPr>
                        <a:t>/code-review  (+ /python-review, /go-review …)</a:t>
                      </a:r>
                    </a:p>
                  </a:txBody>
                  <a:tcPr marT="36576" marB="36576" marL="73152" marR="73152">
                    <a:solidFill>
                      <a:srgbClr val="0A0E1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E6EDF8"/>
                          </a:solidFill>
                          <a:latin typeface="Calibri"/>
                        </a:rPr>
                        <a:t>Qualität + Security der Änderungen</a:t>
                      </a:r>
                    </a:p>
                  </a:txBody>
                  <a:tcPr marT="36576" marB="36576" marL="73152" marR="73152">
                    <a:solidFill>
                      <a:srgbClr val="0A0E1A"/>
                    </a:solidFill>
                  </a:tcPr>
                </a:tc>
              </a:tr>
              <a:tr h="508000"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E6EDF8"/>
                          </a:solidFill>
                          <a:latin typeface="Calibri"/>
                        </a:rPr>
                        <a:t>Build/Tests rot</a:t>
                      </a:r>
                    </a:p>
                  </a:txBody>
                  <a:tcPr marT="36576" marB="36576" marL="73152" marR="73152">
                    <a:solidFill>
                      <a:srgbClr val="141A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E6EDF8"/>
                          </a:solidFill>
                          <a:latin typeface="Calibri"/>
                        </a:rPr>
                        <a:t>/build-fix</a:t>
                      </a:r>
                    </a:p>
                  </a:txBody>
                  <a:tcPr marT="36576" marB="36576" marL="73152" marR="73152">
                    <a:solidFill>
                      <a:srgbClr val="141A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E6EDF8"/>
                          </a:solidFill>
                          <a:latin typeface="Calibri"/>
                        </a:rPr>
                        <a:t>inkrementelle, minimale Fixes</a:t>
                      </a:r>
                    </a:p>
                  </a:txBody>
                  <a:tcPr marT="36576" marB="36576" marL="73152" marR="73152">
                    <a:solidFill>
                      <a:srgbClr val="141A2E"/>
                    </a:solidFill>
                  </a:tcPr>
                </a:tc>
              </a:tr>
              <a:tr h="508000"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E6EDF8"/>
                          </a:solidFill>
                          <a:latin typeface="Calibri"/>
                        </a:rPr>
                        <a:t>Coverage / Qualität</a:t>
                      </a:r>
                    </a:p>
                  </a:txBody>
                  <a:tcPr marT="36576" marB="36576" marL="73152" marR="73152">
                    <a:solidFill>
                      <a:srgbClr val="0A0E1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E6EDF8"/>
                          </a:solidFill>
                          <a:latin typeface="Calibri"/>
                        </a:rPr>
                        <a:t>/test-coverage  ·  /quality-gate</a:t>
                      </a:r>
                    </a:p>
                  </a:txBody>
                  <a:tcPr marT="36576" marB="36576" marL="73152" marR="73152">
                    <a:solidFill>
                      <a:srgbClr val="0A0E1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E6EDF8"/>
                          </a:solidFill>
                          <a:latin typeface="Calibri"/>
                        </a:rPr>
                        <a:t>Lücken finden, Pipeline prüfen</a:t>
                      </a:r>
                    </a:p>
                  </a:txBody>
                  <a:tcPr marT="36576" marB="36576" marL="73152" marR="73152">
                    <a:solidFill>
                      <a:srgbClr val="0A0E1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384048"/>
            <a:ext cx="146304" cy="146304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017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2D3EE"/>
                </a:solidFill>
                <a:latin typeface="Calibri"/>
              </a:rPr>
              <a:t>CHEAT-SHEET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301752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8B98B0"/>
                </a:solidFill>
                <a:latin typeface="Calibri"/>
              </a:rPr>
              <a:t>9 / 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110642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E6EDF8"/>
                </a:solidFill>
                <a:latin typeface="Calibri"/>
              </a:rPr>
              <a:t>§7 Cheat-Sheet — Command (2/2)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81328"/>
            <a:ext cx="2011680" cy="41148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737360"/>
          <a:ext cx="11155680" cy="457200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743200"/>
                <a:gridCol w="4023360"/>
                <a:gridCol w="4389120"/>
              </a:tblGrid>
              <a:tr h="508000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22D3EE"/>
                          </a:solidFill>
                          <a:latin typeface="Calibri"/>
                        </a:rPr>
                        <a:t>Situation</a:t>
                      </a:r>
                    </a:p>
                  </a:txBody>
                  <a:tcPr marT="36576" marB="36576" marL="73152" marR="73152">
                    <a:solidFill>
                      <a:srgbClr val="0E142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22D3EE"/>
                          </a:solidFill>
                          <a:latin typeface="Calibri"/>
                        </a:rPr>
                        <a:t>Command</a:t>
                      </a:r>
                    </a:p>
                  </a:txBody>
                  <a:tcPr marT="36576" marB="36576" marL="73152" marR="73152">
                    <a:solidFill>
                      <a:srgbClr val="0E142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22D3EE"/>
                          </a:solidFill>
                          <a:latin typeface="Calibri"/>
                        </a:rPr>
                        <a:t>Zweck</a:t>
                      </a:r>
                    </a:p>
                  </a:txBody>
                  <a:tcPr marT="36576" marB="36576" marL="73152" marR="73152">
                    <a:solidFill>
                      <a:srgbClr val="0E1424"/>
                    </a:solidFill>
                  </a:tcPr>
                </a:tc>
              </a:tr>
              <a:tr h="508000"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E6EDF8"/>
                          </a:solidFill>
                          <a:latin typeface="Calibri"/>
                        </a:rPr>
                        <a:t>Aufräumen</a:t>
                      </a:r>
                    </a:p>
                  </a:txBody>
                  <a:tcPr marT="36576" marB="36576" marL="73152" marR="73152">
                    <a:solidFill>
                      <a:srgbClr val="141A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E6EDF8"/>
                          </a:solidFill>
                          <a:latin typeface="Calibri"/>
                        </a:rPr>
                        <a:t>/refactor-clean</a:t>
                      </a:r>
                    </a:p>
                  </a:txBody>
                  <a:tcPr marT="36576" marB="36576" marL="73152" marR="73152">
                    <a:solidFill>
                      <a:srgbClr val="141A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E6EDF8"/>
                          </a:solidFill>
                          <a:latin typeface="Calibri"/>
                        </a:rPr>
                        <a:t>toter Code + lose Dateien raus</a:t>
                      </a:r>
                    </a:p>
                  </a:txBody>
                  <a:tcPr marT="36576" marB="36576" marL="73152" marR="73152">
                    <a:solidFill>
                      <a:srgbClr val="141A2E"/>
                    </a:solidFill>
                  </a:tcPr>
                </a:tc>
              </a:tr>
              <a:tr h="508000"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E6EDF8"/>
                          </a:solidFill>
                          <a:latin typeface="Calibri"/>
                        </a:rPr>
                        <a:t>Library-Doku live</a:t>
                      </a:r>
                    </a:p>
                  </a:txBody>
                  <a:tcPr marT="36576" marB="36576" marL="73152" marR="73152">
                    <a:solidFill>
                      <a:srgbClr val="0A0E1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E6EDF8"/>
                          </a:solidFill>
                          <a:latin typeface="Calibri"/>
                        </a:rPr>
                        <a:t>context7-MCP · docs-lookup-Agent</a:t>
                      </a:r>
                    </a:p>
                  </a:txBody>
                  <a:tcPr marT="36576" marB="36576" marL="73152" marR="73152">
                    <a:solidFill>
                      <a:srgbClr val="0A0E1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E6EDF8"/>
                          </a:solidFill>
                          <a:latin typeface="Calibri"/>
                        </a:rPr>
                        <a:t>aktuelle API-Doku statt Halluzination</a:t>
                      </a:r>
                    </a:p>
                  </a:txBody>
                  <a:tcPr marT="36576" marB="36576" marL="73152" marR="73152">
                    <a:solidFill>
                      <a:srgbClr val="0A0E1A"/>
                    </a:solidFill>
                  </a:tcPr>
                </a:tc>
              </a:tr>
              <a:tr h="508000"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E6EDF8"/>
                          </a:solidFill>
                          <a:latin typeface="Calibri"/>
                        </a:rPr>
                        <a:t>Session sichern/laden</a:t>
                      </a:r>
                    </a:p>
                  </a:txBody>
                  <a:tcPr marT="36576" marB="36576" marL="73152" marR="73152">
                    <a:solidFill>
                      <a:srgbClr val="141A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E6EDF8"/>
                          </a:solidFill>
                          <a:latin typeface="Calibri"/>
                        </a:rPr>
                        <a:t>/save-session  ·  /resume-session  ·  /sessions</a:t>
                      </a:r>
                    </a:p>
                  </a:txBody>
                  <a:tcPr marT="36576" marB="36576" marL="73152" marR="73152">
                    <a:solidFill>
                      <a:srgbClr val="141A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E6EDF8"/>
                          </a:solidFill>
                          <a:latin typeface="Calibri"/>
                        </a:rPr>
                        <a:t>über den Tag hinaus arbeiten</a:t>
                      </a:r>
                    </a:p>
                  </a:txBody>
                  <a:tcPr marT="36576" marB="36576" marL="73152" marR="73152">
                    <a:solidFill>
                      <a:srgbClr val="141A2E"/>
                    </a:solidFill>
                  </a:tcPr>
                </a:tc>
              </a:tr>
              <a:tr h="508000"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E6EDF8"/>
                          </a:solidFill>
                          <a:latin typeface="Calibri"/>
                        </a:rPr>
                        <a:t>Checkpoint / Nebenfrage</a:t>
                      </a:r>
                    </a:p>
                  </a:txBody>
                  <a:tcPr marT="36576" marB="36576" marL="73152" marR="73152">
                    <a:solidFill>
                      <a:srgbClr val="0A0E1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E6EDF8"/>
                          </a:solidFill>
                          <a:latin typeface="Calibri"/>
                        </a:rPr>
                        <a:t>/checkpoint  ·  /aside</a:t>
                      </a:r>
                    </a:p>
                  </a:txBody>
                  <a:tcPr marT="36576" marB="36576" marL="73152" marR="73152">
                    <a:solidFill>
                      <a:srgbClr val="0A0E1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E6EDF8"/>
                          </a:solidFill>
                          <a:latin typeface="Calibri"/>
                        </a:rPr>
                        <a:t>Stand markieren / Kontext bewahren</a:t>
                      </a:r>
                    </a:p>
                  </a:txBody>
                  <a:tcPr marT="36576" marB="36576" marL="73152" marR="73152">
                    <a:solidFill>
                      <a:srgbClr val="0A0E1A"/>
                    </a:solidFill>
                  </a:tcPr>
                </a:tc>
              </a:tr>
              <a:tr h="508000"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E6EDF8"/>
                          </a:solidFill>
                          <a:latin typeface="Calibri"/>
                        </a:rPr>
                        <a:t>Gelerntes extrahieren</a:t>
                      </a:r>
                    </a:p>
                  </a:txBody>
                  <a:tcPr marT="36576" marB="36576" marL="73152" marR="73152">
                    <a:solidFill>
                      <a:srgbClr val="141A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E6EDF8"/>
                          </a:solidFill>
                          <a:latin typeface="Calibri"/>
                        </a:rPr>
                        <a:t>/learn-eval → /evolve → /promote</a:t>
                      </a:r>
                    </a:p>
                  </a:txBody>
                  <a:tcPr marT="36576" marB="36576" marL="73152" marR="73152">
                    <a:solidFill>
                      <a:srgbClr val="141A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E6EDF8"/>
                          </a:solidFill>
                          <a:latin typeface="Calibri"/>
                        </a:rPr>
                        <a:t>Self-Improvement-Loop</a:t>
                      </a:r>
                    </a:p>
                  </a:txBody>
                  <a:tcPr marT="36576" marB="36576" marL="73152" marR="73152">
                    <a:solidFill>
                      <a:srgbClr val="141A2E"/>
                    </a:solidFill>
                  </a:tcPr>
                </a:tc>
              </a:tr>
              <a:tr h="508000"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E6EDF8"/>
                          </a:solidFill>
                          <a:latin typeface="Calibri"/>
                        </a:rPr>
                        <a:t>Modell / Kosten</a:t>
                      </a:r>
                    </a:p>
                  </a:txBody>
                  <a:tcPr marT="36576" marB="36576" marL="73152" marR="73152">
                    <a:solidFill>
                      <a:srgbClr val="0A0E1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E6EDF8"/>
                          </a:solidFill>
                          <a:latin typeface="Calibri"/>
                        </a:rPr>
                        <a:t>/model-route  ·  /cost-report</a:t>
                      </a:r>
                    </a:p>
                  </a:txBody>
                  <a:tcPr marT="36576" marB="36576" marL="73152" marR="73152">
                    <a:solidFill>
                      <a:srgbClr val="0A0E1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E6EDF8"/>
                          </a:solidFill>
                          <a:latin typeface="Calibri"/>
                        </a:rPr>
                        <a:t>billigstes ausreichendes Modell</a:t>
                      </a:r>
                    </a:p>
                  </a:txBody>
                  <a:tcPr marT="36576" marB="36576" marL="73152" marR="73152">
                    <a:solidFill>
                      <a:srgbClr val="0A0E1A"/>
                    </a:solidFill>
                  </a:tcPr>
                </a:tc>
              </a:tr>
              <a:tr h="508000"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E6EDF8"/>
                          </a:solidFill>
                          <a:latin typeface="Calibri"/>
                        </a:rPr>
                        <a:t>Harness prüfen</a:t>
                      </a:r>
                    </a:p>
                  </a:txBody>
                  <a:tcPr marT="36576" marB="36576" marL="73152" marR="73152">
                    <a:solidFill>
                      <a:srgbClr val="141A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E6EDF8"/>
                          </a:solidFill>
                          <a:latin typeface="Calibri"/>
                        </a:rPr>
                        <a:t>/harness-audit  ·  /ecc-guide</a:t>
                      </a:r>
                    </a:p>
                  </a:txBody>
                  <a:tcPr marT="36576" marB="36576" marL="73152" marR="73152">
                    <a:solidFill>
                      <a:srgbClr val="141A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E6EDF8"/>
                          </a:solidFill>
                          <a:latin typeface="Calibri"/>
                        </a:rPr>
                        <a:t>Config-Scorecard / Onboarding</a:t>
                      </a:r>
                    </a:p>
                  </a:txBody>
                  <a:tcPr marT="36576" marB="36576" marL="73152" marR="73152">
                    <a:solidFill>
                      <a:srgbClr val="141A2E"/>
                    </a:solidFill>
                  </a:tcPr>
                </a:tc>
              </a:tr>
              <a:tr h="508000"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E6EDF8"/>
                          </a:solidFill>
                          <a:latin typeface="Calibri"/>
                        </a:rPr>
                        <a:t>Parallel / Loop</a:t>
                      </a:r>
                    </a:p>
                  </a:txBody>
                  <a:tcPr marT="36576" marB="36576" marL="73152" marR="73152">
                    <a:solidFill>
                      <a:srgbClr val="0A0E1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E6EDF8"/>
                          </a:solidFill>
                          <a:latin typeface="Calibri"/>
                        </a:rPr>
                        <a:t>/multi-plan  ·  /loop-start  ·  /loop-status</a:t>
                      </a:r>
                    </a:p>
                  </a:txBody>
                  <a:tcPr marT="36576" marB="36576" marL="73152" marR="73152">
                    <a:solidFill>
                      <a:srgbClr val="0A0E1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E6EDF8"/>
                          </a:solidFill>
                          <a:latin typeface="Calibri"/>
                        </a:rPr>
                        <a:t>mehrere Modelle / Automation</a:t>
                      </a:r>
                    </a:p>
                  </a:txBody>
                  <a:tcPr marT="36576" marB="36576" marL="73152" marR="73152">
                    <a:solidFill>
                      <a:srgbClr val="0A0E1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384048"/>
            <a:ext cx="146304" cy="146304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017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2D3EE"/>
                </a:solidFill>
                <a:latin typeface="Calibri"/>
              </a:rPr>
              <a:t>MCP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301752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8B98B0"/>
                </a:solidFill>
                <a:latin typeface="Calibri"/>
              </a:rPr>
              <a:t>10 / 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110642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E6EDF8"/>
                </a:solidFill>
                <a:latin typeface="Calibri"/>
              </a:rPr>
              <a:t>§8 Wann welcher MCP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81328"/>
            <a:ext cx="2011680" cy="41148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9164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BBF24"/>
                </a:solidFill>
                <a:latin typeface="Calibri"/>
              </a:rPr>
              <a:t>Faustregel: 20–30 konfiguriert, &lt; 10 aktiv / &lt; 80 Tools. Ungenutztes mit /mcp deaktivieren.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286000"/>
          <a:ext cx="11155680" cy="411480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3474720"/>
                <a:gridCol w="2560320"/>
                <a:gridCol w="5120640"/>
              </a:tblGrid>
              <a:tr h="41148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22D3EE"/>
                          </a:solidFill>
                          <a:latin typeface="Calibri"/>
                        </a:rPr>
                        <a:t>Aufgabe</a:t>
                      </a:r>
                    </a:p>
                  </a:txBody>
                  <a:tcPr marT="36576" marB="36576" marL="73152" marR="73152">
                    <a:solidFill>
                      <a:srgbClr val="0E142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22D3EE"/>
                          </a:solidFill>
                          <a:latin typeface="Calibri"/>
                        </a:rPr>
                        <a:t>MCP / Tool</a:t>
                      </a:r>
                    </a:p>
                  </a:txBody>
                  <a:tcPr marT="36576" marB="36576" marL="73152" marR="73152">
                    <a:solidFill>
                      <a:srgbClr val="0E142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22D3EE"/>
                          </a:solidFill>
                          <a:latin typeface="Calibri"/>
                        </a:rPr>
                        <a:t>Hinweis</a:t>
                      </a:r>
                    </a:p>
                  </a:txBody>
                  <a:tcPr marT="36576" marB="36576" marL="73152" marR="73152">
                    <a:solidFill>
                      <a:srgbClr val="0E1424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E6EDF8"/>
                          </a:solidFill>
                          <a:latin typeface="Calibri"/>
                        </a:rPr>
                        <a:t>Aktuelle Library-/API-Doku</a:t>
                      </a:r>
                    </a:p>
                  </a:txBody>
                  <a:tcPr marT="36576" marB="36576" marL="73152" marR="73152">
                    <a:solidFill>
                      <a:srgbClr val="141A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E6EDF8"/>
                          </a:solidFill>
                          <a:latin typeface="Calibri"/>
                        </a:rPr>
                        <a:t>context7</a:t>
                      </a:r>
                    </a:p>
                  </a:txBody>
                  <a:tcPr marT="36576" marB="36576" marL="73152" marR="73152">
                    <a:solidFill>
                      <a:srgbClr val="141A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E6EDF8"/>
                          </a:solidFill>
                          <a:latin typeface="Calibri"/>
                        </a:rPr>
                        <a:t>React, Prisma, Next.js … statt veraltetem Wissen</a:t>
                      </a:r>
                    </a:p>
                  </a:txBody>
                  <a:tcPr marT="36576" marB="36576" marL="73152" marR="73152">
                    <a:solidFill>
                      <a:srgbClr val="141A2E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E6EDF8"/>
                          </a:solidFill>
                          <a:latin typeface="Calibri"/>
                        </a:rPr>
                        <a:t>Web-Recherche / Discovery</a:t>
                      </a:r>
                    </a:p>
                  </a:txBody>
                  <a:tcPr marT="36576" marB="36576" marL="73152" marR="73152">
                    <a:solidFill>
                      <a:srgbClr val="0A0E1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E6EDF8"/>
                          </a:solidFill>
                          <a:latin typeface="Calibri"/>
                        </a:rPr>
                        <a:t>exa</a:t>
                      </a:r>
                    </a:p>
                  </a:txBody>
                  <a:tcPr marT="36576" marB="36576" marL="73152" marR="73152">
                    <a:solidFill>
                      <a:srgbClr val="0A0E1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E6EDF8"/>
                          </a:solidFill>
                          <a:latin typeface="Calibri"/>
                        </a:rPr>
                        <a:t>breite Suche, wenn GitHub+Docs nicht reichen</a:t>
                      </a:r>
                    </a:p>
                  </a:txBody>
                  <a:tcPr marT="36576" marB="36576" marL="73152" marR="73152">
                    <a:solidFill>
                      <a:srgbClr val="0A0E1A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E6EDF8"/>
                          </a:solidFill>
                          <a:latin typeface="Calibri"/>
                        </a:rPr>
                        <a:t>GitHub (PRs, Issues, Code-Suche)</a:t>
                      </a:r>
                    </a:p>
                  </a:txBody>
                  <a:tcPr marT="36576" marB="36576" marL="73152" marR="73152">
                    <a:solidFill>
                      <a:srgbClr val="141A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E6EDF8"/>
                          </a:solidFill>
                          <a:latin typeface="Calibri"/>
                        </a:rPr>
                        <a:t>github</a:t>
                      </a:r>
                    </a:p>
                  </a:txBody>
                  <a:tcPr marT="36576" marB="36576" marL="73152" marR="73152">
                    <a:solidFill>
                      <a:srgbClr val="141A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E6EDF8"/>
                          </a:solidFill>
                          <a:latin typeface="Calibri"/>
                        </a:rPr>
                        <a:t>Code-Search FIRST vor Neuschreiben</a:t>
                      </a:r>
                    </a:p>
                  </a:txBody>
                  <a:tcPr marT="36576" marB="36576" marL="73152" marR="73152">
                    <a:solidFill>
                      <a:srgbClr val="141A2E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E6EDF8"/>
                          </a:solidFill>
                          <a:latin typeface="Calibri"/>
                        </a:rPr>
                        <a:t>Browser / E2E / Screenshots</a:t>
                      </a:r>
                    </a:p>
                  </a:txBody>
                  <a:tcPr marT="36576" marB="36576" marL="73152" marR="73152">
                    <a:solidFill>
                      <a:srgbClr val="0A0E1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E6EDF8"/>
                          </a:solidFill>
                          <a:latin typeface="Calibri"/>
                        </a:rPr>
                        <a:t>playwright</a:t>
                      </a:r>
                    </a:p>
                  </a:txBody>
                  <a:tcPr marT="36576" marB="36576" marL="73152" marR="73152">
                    <a:solidFill>
                      <a:srgbClr val="0A0E1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E6EDF8"/>
                          </a:solidFill>
                          <a:latin typeface="Calibri"/>
                        </a:rPr>
                        <a:t>headless Automation, visuelle Tests</a:t>
                      </a:r>
                    </a:p>
                  </a:txBody>
                  <a:tcPr marT="36576" marB="36576" marL="73152" marR="73152">
                    <a:solidFill>
                      <a:srgbClr val="0A0E1A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E6EDF8"/>
                          </a:solidFill>
                          <a:latin typeface="Calibri"/>
                        </a:rPr>
                        <a:t>PDF / Word / Excel lesen</a:t>
                      </a:r>
                    </a:p>
                  </a:txBody>
                  <a:tcPr marT="36576" marB="36576" marL="73152" marR="73152">
                    <a:solidFill>
                      <a:srgbClr val="141A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E6EDF8"/>
                          </a:solidFill>
                          <a:latin typeface="Calibri"/>
                        </a:rPr>
                        <a:t>markitdown</a:t>
                      </a:r>
                    </a:p>
                  </a:txBody>
                  <a:tcPr marT="36576" marB="36576" marL="73152" marR="73152">
                    <a:solidFill>
                      <a:srgbClr val="141A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E6EDF8"/>
                          </a:solidFill>
                          <a:latin typeface="Calibri"/>
                        </a:rPr>
                        <a:t>Dokumente → Markdown (global aktiv)</a:t>
                      </a:r>
                    </a:p>
                  </a:txBody>
                  <a:tcPr marT="36576" marB="36576" marL="73152" marR="73152">
                    <a:solidFill>
                      <a:srgbClr val="141A2E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E6EDF8"/>
                          </a:solidFill>
                          <a:latin typeface="Calibri"/>
                        </a:rPr>
                        <a:t>Strukturierter Wissensgraph</a:t>
                      </a:r>
                    </a:p>
                  </a:txBody>
                  <a:tcPr marT="36576" marB="36576" marL="73152" marR="73152">
                    <a:solidFill>
                      <a:srgbClr val="0A0E1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E6EDF8"/>
                          </a:solidFill>
                          <a:latin typeface="Calibri"/>
                        </a:rPr>
                        <a:t>memory</a:t>
                      </a:r>
                    </a:p>
                  </a:txBody>
                  <a:tcPr marT="36576" marB="36576" marL="73152" marR="73152">
                    <a:solidFill>
                      <a:srgbClr val="0A0E1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E6EDF8"/>
                          </a:solidFill>
                          <a:latin typeface="Calibri"/>
                        </a:rPr>
                        <a:t>Laufzeit-Memory (mit claude-mem abstimmen)</a:t>
                      </a:r>
                    </a:p>
                  </a:txBody>
                  <a:tcPr marT="36576" marB="36576" marL="73152" marR="73152">
                    <a:solidFill>
                      <a:srgbClr val="0A0E1A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E6EDF8"/>
                          </a:solidFill>
                          <a:latin typeface="Calibri"/>
                        </a:rPr>
                        <a:t>Schrittweises Reasoning</a:t>
                      </a:r>
                    </a:p>
                  </a:txBody>
                  <a:tcPr marT="36576" marB="36576" marL="73152" marR="73152">
                    <a:solidFill>
                      <a:srgbClr val="141A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E6EDF8"/>
                          </a:solidFill>
                          <a:latin typeface="Calibri"/>
                        </a:rPr>
                        <a:t>sequential-thinking</a:t>
                      </a:r>
                    </a:p>
                  </a:txBody>
                  <a:tcPr marT="36576" marB="36576" marL="73152" marR="73152">
                    <a:solidFill>
                      <a:srgbClr val="141A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E6EDF8"/>
                          </a:solidFill>
                          <a:latin typeface="Calibri"/>
                        </a:rPr>
                        <a:t>komplexe Mehrschritt-Probleme</a:t>
                      </a:r>
                    </a:p>
                  </a:txBody>
                  <a:tcPr marT="36576" marB="36576" marL="73152" marR="73152">
                    <a:solidFill>
                      <a:srgbClr val="141A2E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E6EDF8"/>
                          </a:solidFill>
                          <a:latin typeface="Calibri"/>
                        </a:rPr>
                        <a:t>Bash-Token sparen (lokal)</a:t>
                      </a:r>
                    </a:p>
                  </a:txBody>
                  <a:tcPr marT="36576" marB="36576" marL="73152" marR="73152">
                    <a:solidFill>
                      <a:srgbClr val="0A0E1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E6EDF8"/>
                          </a:solidFill>
                          <a:latin typeface="Calibri"/>
                        </a:rPr>
                        <a:t>RTK-Hook</a:t>
                      </a:r>
                    </a:p>
                  </a:txBody>
                  <a:tcPr marT="36576" marB="36576" marL="73152" marR="73152">
                    <a:solidFill>
                      <a:srgbClr val="0A0E1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E6EDF8"/>
                          </a:solidFill>
                          <a:latin typeface="Calibri"/>
                        </a:rPr>
                        <a:t>60–90 % Ersparnis, läuft transparent global</a:t>
                      </a:r>
                    </a:p>
                  </a:txBody>
                  <a:tcPr marT="36576" marB="36576" marL="73152" marR="73152">
                    <a:solidFill>
                      <a:srgbClr val="0A0E1A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E6EDF8"/>
                          </a:solidFill>
                          <a:latin typeface="Calibri"/>
                        </a:rPr>
                        <a:t>Frühere Arbeit / „schon gelöst?"</a:t>
                      </a:r>
                    </a:p>
                  </a:txBody>
                  <a:tcPr marT="36576" marB="36576" marL="73152" marR="73152">
                    <a:solidFill>
                      <a:srgbClr val="141A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E6EDF8"/>
                          </a:solidFill>
                          <a:latin typeface="Calibri"/>
                        </a:rPr>
                        <a:t>claude-mem (/mem-search)</a:t>
                      </a:r>
                    </a:p>
                  </a:txBody>
                  <a:tcPr marT="36576" marB="36576" marL="73152" marR="73152">
                    <a:solidFill>
                      <a:srgbClr val="141A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E6EDF8"/>
                          </a:solidFill>
                          <a:latin typeface="Calibri"/>
                        </a:rPr>
                        <a:t>cross-session Memory, injiziert Kontext automatisch</a:t>
                      </a:r>
                    </a:p>
                  </a:txBody>
                  <a:tcPr marT="36576" marB="36576" marL="73152" marR="73152">
                    <a:solidFill>
                      <a:srgbClr val="141A2E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384048"/>
            <a:ext cx="146304" cy="146304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017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2D3EE"/>
                </a:solidFill>
                <a:latin typeface="Calibri"/>
              </a:rPr>
              <a:t>MODELLE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301752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8B98B0"/>
                </a:solidFill>
                <a:latin typeface="Calibri"/>
              </a:rPr>
              <a:t>11 / 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110642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E6EDF8"/>
                </a:solidFill>
                <a:latin typeface="Calibri"/>
              </a:rPr>
              <a:t>§9 Token-Ökonomie &amp; Modellstrategie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81328"/>
            <a:ext cx="2011680" cy="41148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40080" y="1783080"/>
            <a:ext cx="3566160" cy="3383280"/>
          </a:xfrm>
          <a:prstGeom prst="roundRect">
            <a:avLst>
              <a:gd name="adj" fmla="val 6000"/>
            </a:avLst>
          </a:prstGeom>
          <a:solidFill>
            <a:srgbClr val="141A2E"/>
          </a:solidFill>
          <a:ln w="952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7" y="1965960"/>
            <a:ext cx="3163824" cy="3108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22D3EE"/>
                </a:solidFill>
                <a:latin typeface="Calibri"/>
              </a:rPr>
              <a:t>HAIKU 4.5</a:t>
            </a:r>
          </a:p>
          <a:p>
            <a:pPr algn="l"/>
            <a:r>
              <a:rPr sz="1300" b="1">
                <a:solidFill>
                  <a:srgbClr val="E6EDF8"/>
                </a:solidFill>
                <a:latin typeface="Calibri"/>
              </a:rPr>
              <a:t>Worker-Agents</a:t>
            </a:r>
          </a:p>
          <a:p>
            <a:pPr algn="l"/>
            <a:r>
              <a:rPr sz="600" b="0">
                <a:solidFill>
                  <a:srgbClr val="E6EDF8"/>
                </a:solidFill>
                <a:latin typeface="Calibri"/>
              </a:rPr>
              <a:t/>
            </a:r>
          </a:p>
          <a:p>
            <a:pPr algn="l"/>
            <a:r>
              <a:rPr sz="1200" b="0">
                <a:solidFill>
                  <a:srgbClr val="8B98B0"/>
                </a:solidFill>
                <a:latin typeface="Calibri"/>
              </a:rPr>
              <a:t>• Exploration / Suche</a:t>
            </a:r>
          </a:p>
          <a:p>
            <a:pPr algn="l"/>
            <a:r>
              <a:rPr sz="1200" b="0">
                <a:solidFill>
                  <a:srgbClr val="8B98B0"/>
                </a:solidFill>
                <a:latin typeface="Calibri"/>
              </a:rPr>
              <a:t>• viele günstige Parallel-Agents</a:t>
            </a:r>
          </a:p>
          <a:p>
            <a:pPr algn="l"/>
            <a:r>
              <a:rPr sz="1200" b="0">
                <a:solidFill>
                  <a:srgbClr val="8B98B0"/>
                </a:solidFill>
                <a:latin typeface="Calibri"/>
              </a:rPr>
              <a:t>• Doku-Struktur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07408" y="1783080"/>
            <a:ext cx="3566160" cy="3383280"/>
          </a:xfrm>
          <a:prstGeom prst="roundRect">
            <a:avLst>
              <a:gd name="adj" fmla="val 6000"/>
            </a:avLst>
          </a:prstGeom>
          <a:solidFill>
            <a:srgbClr val="141A2E"/>
          </a:solidFill>
          <a:ln w="9525">
            <a:solidFill>
              <a:srgbClr val="818C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08576" y="1965960"/>
            <a:ext cx="3163824" cy="3108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818CF8"/>
                </a:solidFill>
                <a:latin typeface="Calibri"/>
              </a:rPr>
              <a:t>SONNET 4.6</a:t>
            </a:r>
          </a:p>
          <a:p>
            <a:pPr algn="l"/>
            <a:r>
              <a:rPr sz="1300" b="1">
                <a:solidFill>
                  <a:srgbClr val="E6EDF8"/>
                </a:solidFill>
                <a:latin typeface="Calibri"/>
              </a:rPr>
              <a:t>günstige Alternative</a:t>
            </a:r>
          </a:p>
          <a:p>
            <a:pPr algn="l"/>
            <a:r>
              <a:rPr sz="600" b="0">
                <a:solidFill>
                  <a:srgbClr val="E6EDF8"/>
                </a:solidFill>
                <a:latin typeface="Calibri"/>
              </a:rPr>
              <a:t/>
            </a:r>
          </a:p>
          <a:p>
            <a:pPr algn="l"/>
            <a:r>
              <a:rPr sz="1200" b="0">
                <a:solidFill>
                  <a:srgbClr val="8B98B0"/>
                </a:solidFill>
                <a:latin typeface="Calibri"/>
              </a:rPr>
              <a:t>• einfache, gut definierte Edits</a:t>
            </a:r>
          </a:p>
          <a:p>
            <a:pPr algn="l"/>
            <a:r>
              <a:rPr sz="1200" b="0">
                <a:solidFill>
                  <a:srgbClr val="8B98B0"/>
                </a:solidFill>
                <a:latin typeface="Calibri"/>
              </a:rPr>
              <a:t>• PR-Review (Kontext)</a:t>
            </a:r>
          </a:p>
          <a:p>
            <a:pPr algn="l"/>
            <a:r>
              <a:rPr sz="1200" b="0">
                <a:solidFill>
                  <a:srgbClr val="8B98B0"/>
                </a:solidFill>
                <a:latin typeface="Calibri"/>
              </a:rPr>
              <a:t>• Doku schreiben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74736" y="1783080"/>
            <a:ext cx="3566160" cy="3383280"/>
          </a:xfrm>
          <a:prstGeom prst="roundRect">
            <a:avLst>
              <a:gd name="adj" fmla="val 6000"/>
            </a:avLst>
          </a:prstGeom>
          <a:solidFill>
            <a:srgbClr val="141A2E"/>
          </a:solidFill>
          <a:ln w="9525">
            <a:solidFill>
              <a:srgbClr val="FBBF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75904" y="1965960"/>
            <a:ext cx="3163824" cy="3108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BBF24"/>
                </a:solidFill>
                <a:latin typeface="Calibri"/>
              </a:rPr>
              <a:t>OPUS 4.8 (1M)</a:t>
            </a:r>
          </a:p>
          <a:p>
            <a:pPr algn="l"/>
            <a:r>
              <a:rPr sz="1300" b="1">
                <a:solidFill>
                  <a:srgbClr val="E6EDF8"/>
                </a:solidFill>
                <a:latin typeface="Calibri"/>
              </a:rPr>
              <a:t>Standard / Default</a:t>
            </a:r>
          </a:p>
          <a:p>
            <a:pPr algn="l"/>
            <a:r>
              <a:rPr sz="600" b="0">
                <a:solidFill>
                  <a:srgbClr val="E6EDF8"/>
                </a:solidFill>
                <a:latin typeface="Calibri"/>
              </a:rPr>
              <a:t/>
            </a:r>
          </a:p>
          <a:p>
            <a:pPr algn="l"/>
            <a:r>
              <a:rPr sz="1200" b="0">
                <a:solidFill>
                  <a:srgbClr val="8B98B0"/>
                </a:solidFill>
                <a:latin typeface="Calibri"/>
              </a:rPr>
              <a:t>• Standard-Coding / Multi-File (/fast)</a:t>
            </a:r>
          </a:p>
          <a:p>
            <a:pPr algn="l"/>
            <a:r>
              <a:rPr sz="1200" b="0">
                <a:solidFill>
                  <a:srgbClr val="8B98B0"/>
                </a:solidFill>
                <a:latin typeface="Calibri"/>
              </a:rPr>
              <a:t>• komplexe Architektur (effort high)</a:t>
            </a:r>
          </a:p>
          <a:p>
            <a:pPr algn="l"/>
            <a:r>
              <a:rPr sz="1200" b="0">
                <a:solidFill>
                  <a:srgbClr val="8B98B0"/>
                </a:solidFill>
                <a:latin typeface="Calibri"/>
              </a:rPr>
              <a:t>• Security-Analyse · komplexe Bugs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54406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8B98B0"/>
                </a:solidFill>
                <a:latin typeface="Calibri"/>
              </a:rPr>
              <a:t>Effort medium Standard / high bei Architektur+Security · /model-route · /cost-report · Auto-Compact aus.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384048"/>
            <a:ext cx="146304" cy="146304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017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2D3EE"/>
                </a:solidFill>
                <a:latin typeface="Calibri"/>
              </a:rPr>
              <a:t>MEMORY &amp; LERNEN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301752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8B98B0"/>
                </a:solidFill>
                <a:latin typeface="Calibri"/>
              </a:rPr>
              <a:t>12 / 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110642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E6EDF8"/>
                </a:solidFill>
                <a:latin typeface="Calibri"/>
              </a:rPr>
              <a:t>§10–11 Memory, Sessions &amp; Continuous Learning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81328"/>
            <a:ext cx="2011680" cy="41148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783080"/>
          <a:ext cx="10972800" cy="274320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4937760"/>
                <a:gridCol w="6035040"/>
              </a:tblGrid>
              <a:tr h="54864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22D3EE"/>
                          </a:solidFill>
                          <a:latin typeface="Calibri"/>
                        </a:rPr>
                        <a:t>Command</a:t>
                      </a:r>
                    </a:p>
                  </a:txBody>
                  <a:tcPr marT="36576" marB="36576" marL="73152" marR="73152">
                    <a:solidFill>
                      <a:srgbClr val="0E142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22D3EE"/>
                          </a:solidFill>
                          <a:latin typeface="Calibri"/>
                        </a:rPr>
                        <a:t>Zweck</a:t>
                      </a:r>
                    </a:p>
                  </a:txBody>
                  <a:tcPr marT="36576" marB="36576" marL="73152" marR="73152">
                    <a:solidFill>
                      <a:srgbClr val="0E1424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E6EDF8"/>
                          </a:solidFill>
                          <a:latin typeface="Calibri"/>
                        </a:rPr>
                        <a:t>/save-session · /resume-session</a:t>
                      </a:r>
                    </a:p>
                  </a:txBody>
                  <a:tcPr marT="36576" marB="36576" marL="73152" marR="73152">
                    <a:solidFill>
                      <a:srgbClr val="141A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E6EDF8"/>
                          </a:solidFill>
                          <a:latin typeface="Calibri"/>
                        </a:rPr>
                        <a:t>Tag-zu-Tag-Fortschritt persistieren</a:t>
                      </a:r>
                    </a:p>
                  </a:txBody>
                  <a:tcPr marT="36576" marB="36576" marL="73152" marR="73152">
                    <a:solidFill>
                      <a:srgbClr val="141A2E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E6EDF8"/>
                          </a:solidFill>
                          <a:latin typeface="Calibri"/>
                        </a:rPr>
                        <a:t>/sessions · /checkpoint · /aside</a:t>
                      </a:r>
                    </a:p>
                  </a:txBody>
                  <a:tcPr marT="36576" marB="36576" marL="73152" marR="73152">
                    <a:solidFill>
                      <a:srgbClr val="0A0E1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E6EDF8"/>
                          </a:solidFill>
                          <a:latin typeface="Calibri"/>
                        </a:rPr>
                        <a:t>Historie · Checkpoint · Nebenfrage</a:t>
                      </a:r>
                    </a:p>
                  </a:txBody>
                  <a:tcPr marT="36576" marB="36576" marL="73152" marR="73152">
                    <a:solidFill>
                      <a:srgbClr val="0A0E1A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E6EDF8"/>
                          </a:solidFill>
                          <a:latin typeface="Calibri"/>
                        </a:rPr>
                        <a:t>/learn-eval → /evolve → /promote</a:t>
                      </a:r>
                    </a:p>
                  </a:txBody>
                  <a:tcPr marT="36576" marB="36576" marL="73152" marR="73152">
                    <a:solidFill>
                      <a:srgbClr val="141A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E6EDF8"/>
                          </a:solidFill>
                          <a:latin typeface="Calibri"/>
                        </a:rPr>
                        <a:t>Self-Improvement-Loop (Instincts)</a:t>
                      </a:r>
                    </a:p>
                  </a:txBody>
                  <a:tcPr marT="36576" marB="36576" marL="73152" marR="73152">
                    <a:solidFill>
                      <a:srgbClr val="141A2E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E6EDF8"/>
                          </a:solidFill>
                          <a:latin typeface="Calibri"/>
                        </a:rPr>
                        <a:t>/instinct-status · /skill-create</a:t>
                      </a:r>
                    </a:p>
                  </a:txBody>
                  <a:tcPr marT="36576" marB="36576" marL="73152" marR="73152">
                    <a:solidFill>
                      <a:srgbClr val="0A0E1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E6EDF8"/>
                          </a:solidFill>
                          <a:latin typeface="Calibri"/>
                        </a:rPr>
                        <a:t>Instincts zeigen · Skill aus Git-History</a:t>
                      </a:r>
                    </a:p>
                  </a:txBody>
                  <a:tcPr marT="36576" marB="36576" marL="73152" marR="73152">
                    <a:solidFill>
                      <a:srgbClr val="0A0E1A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4846320"/>
            <a:ext cx="1097280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>
                <a:solidFill>
                  <a:srgbClr val="FBBF24"/>
                </a:solidFill>
                <a:latin typeface="Calibri"/>
              </a:rPr>
              <a:t>EINE primäre Memory-Quelle je Projekt (claude-mem-Koexistenz). Keine Secrets in Memory.</a:t>
            </a:r>
          </a:p>
          <a:p>
            <a:pPr algn="l"/>
            <a:r>
              <a:rPr sz="1400" b="0">
                <a:solidFill>
                  <a:srgbClr val="818CF8"/>
                </a:solidFill>
                <a:latin typeface="Calibri"/>
              </a:rPr>
              <a:t>Routine: Session-Ende → /learn-eval → /evolve → /promote.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384048"/>
            <a:ext cx="146304" cy="146304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017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2D3EE"/>
                </a:solidFill>
                <a:latin typeface="Calibri"/>
              </a:rPr>
              <a:t>PARALLEL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301752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8B98B0"/>
                </a:solidFill>
                <a:latin typeface="Calibri"/>
              </a:rPr>
              <a:t>13 / 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110642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E6EDF8"/>
                </a:solidFill>
                <a:latin typeface="Calibri"/>
              </a:rPr>
              <a:t>§12 Parallelisierung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81328"/>
            <a:ext cx="2011680" cy="41148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40080" y="1783080"/>
            <a:ext cx="5166360" cy="1371600"/>
          </a:xfrm>
          <a:prstGeom prst="roundRect">
            <a:avLst>
              <a:gd name="adj" fmla="val 6000"/>
            </a:avLst>
          </a:prstGeom>
          <a:solidFill>
            <a:srgbClr val="141A2E"/>
          </a:solidFill>
          <a:ln w="952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1920240"/>
            <a:ext cx="4800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>
                <a:solidFill>
                  <a:srgbClr val="22D3EE"/>
                </a:solidFill>
                <a:latin typeface="Calibri"/>
              </a:rPr>
              <a:t>/fork</a:t>
            </a:r>
          </a:p>
          <a:p>
            <a:pPr algn="l"/>
            <a:r>
              <a:rPr sz="1150" b="0">
                <a:solidFill>
                  <a:srgbClr val="8B98B0"/>
                </a:solidFill>
                <a:latin typeface="Calibri"/>
              </a:rPr>
              <a:t>Konversation forken für nicht-überlappende Nebenaufgaben (Codebase-Fragen).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0" y="1783080"/>
            <a:ext cx="5166360" cy="1371600"/>
          </a:xfrm>
          <a:prstGeom prst="roundRect">
            <a:avLst>
              <a:gd name="adj" fmla="val 6000"/>
            </a:avLst>
          </a:prstGeom>
          <a:solidFill>
            <a:srgbClr val="141A2E"/>
          </a:solidFill>
          <a:ln w="952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0" y="1920240"/>
            <a:ext cx="4800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>
                <a:solidFill>
                  <a:srgbClr val="22D3EE"/>
                </a:solidFill>
                <a:latin typeface="Calibri"/>
              </a:rPr>
              <a:t>Git-Worktrees</a:t>
            </a:r>
          </a:p>
          <a:p>
            <a:pPr algn="l"/>
            <a:r>
              <a:rPr sz="1150" b="0">
                <a:solidFill>
                  <a:srgbClr val="8B98B0"/>
                </a:solidFill>
                <a:latin typeface="Calibri"/>
              </a:rPr>
              <a:t>überlappende parallele Arbeit ohne Konflikte — eigene Claude-Instanz je Worktree.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337560"/>
            <a:ext cx="5166360" cy="1371600"/>
          </a:xfrm>
          <a:prstGeom prst="roundRect">
            <a:avLst>
              <a:gd name="adj" fmla="val 6000"/>
            </a:avLst>
          </a:prstGeom>
          <a:solidFill>
            <a:srgbClr val="141A2E"/>
          </a:solidFill>
          <a:ln w="952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59" y="3474720"/>
            <a:ext cx="4800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>
                <a:solidFill>
                  <a:srgbClr val="22D3EE"/>
                </a:solidFill>
                <a:latin typeface="Calibri"/>
              </a:rPr>
              <a:t>Cascade-Methode</a:t>
            </a:r>
          </a:p>
          <a:p>
            <a:pPr algn="l"/>
            <a:r>
              <a:rPr sz="1150" b="0">
                <a:solidFill>
                  <a:srgbClr val="8B98B0"/>
                </a:solidFill>
                <a:latin typeface="Calibri"/>
              </a:rPr>
              <a:t>neue Tasks in neuen Tabs, alt→neu abarbeiten, max. 3–4 gleichzeitig.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0" y="3337560"/>
            <a:ext cx="5166360" cy="1371600"/>
          </a:xfrm>
          <a:prstGeom prst="roundRect">
            <a:avLst>
              <a:gd name="adj" fmla="val 6000"/>
            </a:avLst>
          </a:prstGeom>
          <a:solidFill>
            <a:srgbClr val="141A2E"/>
          </a:solidFill>
          <a:ln w="952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0" y="3474720"/>
            <a:ext cx="4800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>
                <a:solidFill>
                  <a:srgbClr val="22D3EE"/>
                </a:solidFill>
                <a:latin typeface="Calibri"/>
              </a:rPr>
              <a:t>ECC-Multi-Model</a:t>
            </a:r>
          </a:p>
          <a:p>
            <a:pPr algn="l"/>
            <a:r>
              <a:rPr sz="1150" b="0">
                <a:solidFill>
                  <a:srgbClr val="8B98B0"/>
                </a:solidFill>
                <a:latin typeface="Calibri"/>
              </a:rPr>
              <a:t>/multi-plan · /multi-workflow · /multi-backend · /multi-frontend · /loop-start.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4937760"/>
            <a:ext cx="10927080" cy="960120"/>
          </a:xfrm>
          <a:prstGeom prst="roundRect">
            <a:avLst>
              <a:gd name="adj" fmla="val 6000"/>
            </a:avLst>
          </a:prstGeom>
          <a:solidFill>
            <a:srgbClr val="0E1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507492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>
                <a:solidFill>
                  <a:srgbClr val="9CE3F0"/>
                </a:solidFill>
                <a:latin typeface="Consolas"/>
              </a:rPr>
              <a:t>git worktree add ../feature-a feature-a &amp;&amp; cd ../feature-a &amp;&amp; claude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384048"/>
            <a:ext cx="146304" cy="146304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017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2D3EE"/>
                </a:solidFill>
                <a:latin typeface="Calibri"/>
              </a:rPr>
              <a:t>SECURITY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301752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8B98B0"/>
                </a:solidFill>
                <a:latin typeface="Calibri"/>
              </a:rPr>
              <a:t>14 / 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110642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E6EDF8"/>
                </a:solidFill>
                <a:latin typeface="Calibri"/>
              </a:rPr>
              <a:t>§13 Security im Alltag + VPS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81328"/>
            <a:ext cx="2011680" cy="41148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40080" y="1783080"/>
            <a:ext cx="5349240" cy="3383280"/>
          </a:xfrm>
          <a:prstGeom prst="roundRect">
            <a:avLst>
              <a:gd name="adj" fmla="val 6000"/>
            </a:avLst>
          </a:prstGeom>
          <a:solidFill>
            <a:srgbClr val="141A2E"/>
          </a:solidFill>
          <a:ln w="952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965960"/>
            <a:ext cx="4937760" cy="3108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 b="1">
                <a:solidFill>
                  <a:srgbClr val="34D399"/>
                </a:solidFill>
                <a:latin typeface="Calibri"/>
              </a:rPr>
              <a:t>Aktiv / sicher</a:t>
            </a:r>
          </a:p>
          <a:p>
            <a:pPr algn="l"/>
            <a:r>
              <a:rPr sz="400" b="0">
                <a:solidFill>
                  <a:srgbClr val="E6EDF8"/>
                </a:solidFill>
                <a:latin typeface="Calibri"/>
              </a:rPr>
              <a:t/>
            </a:r>
          </a:p>
          <a:p>
            <a:pPr algn="l"/>
            <a:r>
              <a:rPr sz="1250" b="1">
                <a:solidFill>
                  <a:srgbClr val="E6EDF8"/>
                </a:solidFill>
                <a:latin typeface="Calibri"/>
              </a:rPr>
              <a:t>RTK-Hook</a:t>
            </a:r>
          </a:p>
          <a:p>
            <a:pPr lvl="1" algn="l"/>
            <a:r>
              <a:rPr sz="1100" b="0">
                <a:solidFill>
                  <a:srgbClr val="8B98B0"/>
                </a:solidFill>
                <a:latin typeface="Calibri"/>
              </a:rPr>
              <a:t>PreToolUse:Bash bleibt unangetastet — Token-Ersparnis global.</a:t>
            </a:r>
          </a:p>
          <a:p>
            <a:pPr algn="l"/>
            <a:r>
              <a:rPr sz="1250" b="1">
                <a:solidFill>
                  <a:srgbClr val="E6EDF8"/>
                </a:solidFill>
                <a:latin typeface="Calibri"/>
              </a:rPr>
              <a:t>ECC namespace-sicher</a:t>
            </a:r>
          </a:p>
          <a:p>
            <a:pPr lvl="1" algn="l"/>
            <a:r>
              <a:rPr sz="1100" b="0">
                <a:solidFill>
                  <a:srgbClr val="8B98B0"/>
                </a:solidFill>
                <a:latin typeface="Calibri"/>
              </a:rPr>
              <a:t>rules/ecc/, skills/ecc/ — keine Kollision mit Eigenem.</a:t>
            </a:r>
          </a:p>
          <a:p>
            <a:pPr algn="l"/>
            <a:r>
              <a:rPr sz="1250" b="1">
                <a:solidFill>
                  <a:srgbClr val="E6EDF8"/>
                </a:solidFill>
                <a:latin typeface="Calibri"/>
              </a:rPr>
              <a:t>settings.json unberührt</a:t>
            </a:r>
          </a:p>
          <a:p>
            <a:pPr lvl="1" algn="l"/>
            <a:r>
              <a:rPr sz="1100" b="0">
                <a:solidFill>
                  <a:srgbClr val="8B98B0"/>
                </a:solidFill>
                <a:latin typeface="Calibri"/>
              </a:rPr>
              <a:t>kein Auto-Edit der Startup-Config; nur additiv via ./install-vps.sh --harden.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783080"/>
            <a:ext cx="5303520" cy="3383280"/>
          </a:xfrm>
          <a:prstGeom prst="roundRect">
            <a:avLst>
              <a:gd name="adj" fmla="val 6000"/>
            </a:avLst>
          </a:prstGeom>
          <a:solidFill>
            <a:srgbClr val="141A2E"/>
          </a:solidFill>
          <a:ln w="9525">
            <a:solidFill>
              <a:srgbClr val="FBBF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1965960"/>
            <a:ext cx="4892040" cy="3108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 b="1">
                <a:solidFill>
                  <a:srgbClr val="FBBF24"/>
                </a:solidFill>
                <a:latin typeface="Calibri"/>
              </a:rPr>
              <a:t>Bewusst opt-in</a:t>
            </a:r>
          </a:p>
          <a:p>
            <a:pPr algn="l"/>
            <a:r>
              <a:rPr sz="400" b="0">
                <a:solidFill>
                  <a:srgbClr val="E6EDF8"/>
                </a:solidFill>
                <a:latin typeface="Calibri"/>
              </a:rPr>
              <a:t/>
            </a:r>
          </a:p>
          <a:p>
            <a:pPr algn="l"/>
            <a:r>
              <a:rPr sz="1250" b="1">
                <a:solidFill>
                  <a:srgbClr val="E6EDF8"/>
                </a:solidFill>
                <a:latin typeface="Calibri"/>
              </a:rPr>
              <a:t>ECC-Hooks INAKTIV</a:t>
            </a:r>
          </a:p>
          <a:p>
            <a:pPr lvl="1" algn="l"/>
            <a:r>
              <a:rPr sz="1100" b="0">
                <a:solidFill>
                  <a:srgbClr val="8B98B0"/>
                </a:solidFill>
                <a:latin typeface="Calibri"/>
              </a:rPr>
              <a:t>Repo-kontrollierte Hooks nicht blind aktiv. Bewusst aktivieren nach Sichtung von hooks.json.</a:t>
            </a:r>
          </a:p>
          <a:p>
            <a:pPr algn="l"/>
            <a:r>
              <a:rPr sz="1250" b="1">
                <a:solidFill>
                  <a:srgbClr val="E6EDF8"/>
                </a:solidFill>
                <a:latin typeface="Calibri"/>
              </a:rPr>
              <a:t>deny-Baseline opt-in</a:t>
            </a:r>
          </a:p>
          <a:p>
            <a:pPr lvl="1" algn="l"/>
            <a:r>
              <a:rPr sz="1100" b="0">
                <a:solidFill>
                  <a:srgbClr val="8B98B0"/>
                </a:solidFill>
                <a:latin typeface="Calibri"/>
              </a:rPr>
              <a:t>./install-vps.sh --harden ergänzt rm -rf / force-push / Secret-Reads (mit Backup).</a:t>
            </a:r>
          </a:p>
          <a:p>
            <a:pPr algn="l"/>
            <a:r>
              <a:rPr sz="1250" b="1">
                <a:solidFill>
                  <a:srgbClr val="E6EDF8"/>
                </a:solidFill>
                <a:latin typeface="Calibri"/>
              </a:rPr>
              <a:t>AgentShield</a:t>
            </a:r>
          </a:p>
          <a:p>
            <a:pPr lvl="1" algn="l"/>
            <a:r>
              <a:rPr sz="1100" b="0">
                <a:solidFill>
                  <a:srgbClr val="8B98B0"/>
                </a:solidFill>
                <a:latin typeface="Calibri"/>
              </a:rPr>
              <a:t>npx ecc-agentshield scan lädt externes Paket — selbst vetten, dann ausführen.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34924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8B98B0"/>
                </a:solidFill>
                <a:latin typeface="Calibri"/>
              </a:rPr>
              <a:t>VPS-weit: ECC global → Hooks bleiben inaktiv bis zur bewussten Aktivierung. Härtung: ./install-vps.sh --harden (mit settings.json-Backup).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384048"/>
            <a:ext cx="146304" cy="146304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017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2D3EE"/>
                </a:solidFill>
                <a:latin typeface="Calibri"/>
              </a:rPr>
              <a:t>CLIS &amp; WARTUNG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301752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8B98B0"/>
                </a:solidFill>
                <a:latin typeface="Calibri"/>
              </a:rPr>
              <a:t>15 / 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110642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E6EDF8"/>
                </a:solidFill>
                <a:latin typeface="Calibri"/>
              </a:rPr>
              <a:t>§14 ECC-CLIs &amp; Wartung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81328"/>
            <a:ext cx="2011680" cy="41148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40080" y="1783080"/>
            <a:ext cx="10927080" cy="2926080"/>
          </a:xfrm>
          <a:prstGeom prst="roundRect">
            <a:avLst>
              <a:gd name="adj" fmla="val 6000"/>
            </a:avLst>
          </a:prstGeom>
          <a:solidFill>
            <a:srgbClr val="0E1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011680"/>
            <a:ext cx="10424160" cy="2560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0">
                <a:solidFill>
                  <a:srgbClr val="9CE3F0"/>
                </a:solidFill>
                <a:latin typeface="Consolas"/>
              </a:rPr>
              <a:t>node scripts/ecc.js doctor          # Health-Check (claude-home: OK)</a:t>
            </a:r>
          </a:p>
          <a:p>
            <a:pPr algn="l"/>
            <a:r>
              <a:rPr sz="1300" b="0">
                <a:solidFill>
                  <a:srgbClr val="9CE3F0"/>
                </a:solidFill>
                <a:latin typeface="Consolas"/>
              </a:rPr>
              <a:t>node scripts/ecc.js list-installed   # was ist installiert</a:t>
            </a:r>
          </a:p>
          <a:p>
            <a:pPr algn="l"/>
            <a:r>
              <a:rPr sz="1300" b="0">
                <a:solidFill>
                  <a:srgbClr val="9CE3F0"/>
                </a:solidFill>
                <a:latin typeface="Consolas"/>
              </a:rPr>
              <a:t>node scripts/ecc.js repair           # ECC-Dateien wiederherstellen</a:t>
            </a:r>
          </a:p>
          <a:p>
            <a:pPr algn="l"/>
            <a:r>
              <a:rPr sz="1300" b="0">
                <a:solidFill>
                  <a:srgbClr val="9CE3F0"/>
                </a:solidFill>
                <a:latin typeface="Consolas"/>
              </a:rPr>
              <a:t>npx ecc consult "security reviews"   # Advisor: welche Komponenten?</a:t>
            </a:r>
          </a:p>
          <a:p>
            <a:pPr algn="l"/>
            <a:r>
              <a:rPr sz="1300" b="0">
                <a:solidFill>
                  <a:srgbClr val="9CE3F0"/>
                </a:solidFill>
                <a:latin typeface="Consolas"/>
              </a:rPr>
              <a:t>./install-vps.sh                     # Re-Install / Update VPS-weit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02920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818CF8"/>
                </a:solidFill>
                <a:latin typeface="Calibri"/>
              </a:rPr>
              <a:t>Slash-Einstieg:  /ecc-guide · /harness-audit · /cost-report · /skill-health · /projects.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384048"/>
            <a:ext cx="146304" cy="146304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017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2D3EE"/>
                </a:solidFill>
                <a:latin typeface="Calibri"/>
              </a:rPr>
              <a:t>QUELLEN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301752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8B98B0"/>
                </a:solidFill>
                <a:latin typeface="Calibri"/>
              </a:rPr>
              <a:t>16 / 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110642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E6EDF8"/>
                </a:solidFill>
                <a:latin typeface="Calibri"/>
              </a:rPr>
              <a:t>Quellen &amp; TL;DR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81328"/>
            <a:ext cx="2011680" cy="41148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737360"/>
            <a:ext cx="10972800" cy="1554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>
                <a:solidFill>
                  <a:srgbClr val="22D3EE"/>
                </a:solidFill>
                <a:latin typeface="Calibri"/>
              </a:rPr>
              <a:t>Guides von @affaanmustafa (X-Threads; lokal unter ecc/):</a:t>
            </a:r>
          </a:p>
          <a:p>
            <a:pPr algn="l"/>
            <a:r>
              <a:rPr sz="1150" b="0">
                <a:solidFill>
                  <a:srgbClr val="E6EDF8"/>
                </a:solidFill>
                <a:latin typeface="Calibri"/>
              </a:rPr>
              <a:t>Shortform: https://x.com/affaanmustafa/status/2012378465664745795</a:t>
            </a:r>
          </a:p>
          <a:p>
            <a:pPr algn="l"/>
            <a:r>
              <a:rPr sz="1150" b="0">
                <a:solidFill>
                  <a:srgbClr val="E6EDF8"/>
                </a:solidFill>
                <a:latin typeface="Calibri"/>
              </a:rPr>
              <a:t>Longform:  https://x.com/affaanmustafa/status/2014040193557471352</a:t>
            </a:r>
          </a:p>
          <a:p>
            <a:pPr algn="l"/>
            <a:r>
              <a:rPr sz="1150" b="0">
                <a:solidFill>
                  <a:srgbClr val="E6EDF8"/>
                </a:solidFill>
                <a:latin typeface="Calibri"/>
              </a:rPr>
              <a:t>Security:  https://x.com/affaanmustafa/status/2033263813387223421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383280"/>
            <a:ext cx="10972800" cy="3108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 b="1">
                <a:solidFill>
                  <a:srgbClr val="22D3EE"/>
                </a:solidFill>
                <a:latin typeface="Calibri"/>
              </a:rPr>
              <a:t>TL;DR — wie der Erfinder:</a:t>
            </a:r>
          </a:p>
          <a:p>
            <a:pPr algn="l"/>
            <a:r>
              <a:rPr sz="1300" b="0">
                <a:solidFill>
                  <a:srgbClr val="E6EDF8"/>
                </a:solidFill>
                <a:latin typeface="Calibri"/>
              </a:rPr>
              <a:t>1. In Phasen: Research → /plan → /feature-dev+TDD → /code-review → Verify.</a:t>
            </a:r>
          </a:p>
          <a:p>
            <a:pPr algn="l"/>
            <a:r>
              <a:rPr sz="1300" b="0">
                <a:solidFill>
                  <a:srgbClr val="E6EDF8"/>
                </a:solidFill>
                <a:latin typeface="Calibri"/>
              </a:rPr>
              <a:t>2. Kontext sauber: &lt;10 MCPs, billigstes Modell, modulare Dateien, strategisch compacten.</a:t>
            </a:r>
          </a:p>
          <a:p>
            <a:pPr algn="l"/>
            <a:r>
              <a:rPr sz="1300" b="0">
                <a:solidFill>
                  <a:srgbClr val="E6EDF8"/>
                </a:solidFill>
                <a:latin typeface="Calibri"/>
              </a:rPr>
              <a:t>3. Persistieren: /save-session · /resume-session.</a:t>
            </a:r>
          </a:p>
          <a:p>
            <a:pPr algn="l"/>
            <a:r>
              <a:rPr sz="1300" b="0">
                <a:solidFill>
                  <a:srgbClr val="E6EDF8"/>
                </a:solidFill>
                <a:latin typeface="Calibri"/>
              </a:rPr>
              <a:t>4. Lernen: /learn-eval → /evolve → /promote.</a:t>
            </a:r>
          </a:p>
          <a:p>
            <a:pPr algn="l"/>
            <a:r>
              <a:rPr sz="1300" b="0">
                <a:solidFill>
                  <a:srgbClr val="E6EDF8"/>
                </a:solidFill>
                <a:latin typeface="Calibri"/>
              </a:rPr>
              <a:t>5. Security zuerst: RTK aktiv, Hooks/AgentShield bewusst, nie blind ausführen.</a:t>
            </a:r>
          </a:p>
          <a:p>
            <a:pPr algn="l"/>
            <a:r>
              <a:rPr sz="1300" b="0">
                <a:solidFill>
                  <a:srgbClr val="E6EDF8"/>
                </a:solidFill>
                <a:latin typeface="Calibri"/>
              </a:rPr>
              <a:t>6. Unsicher? /ecc-guide · ecc doctor · die drei Original-Guides.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