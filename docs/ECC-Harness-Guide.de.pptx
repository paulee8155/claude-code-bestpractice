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D3EE"/>
                </a:solidFill>
                <a:latin typeface="Calibri"/>
              </a:rPr>
              <a:t>ENGINEERING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ECC × BestPractice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E6EDF8"/>
                </a:solidFill>
                <a:latin typeface="Calibri"/>
              </a:rPr>
              <a:t>Das fusionierte, VPS-weite Claude-Code-Harness</a:t>
            </a:r>
          </a:p>
          <a:p>
            <a:pPr algn="l"/>
            <a:r>
              <a:rPr sz="1400" b="0">
                <a:solidFill>
                  <a:srgbClr val="8B98B0"/>
                </a:solidFill>
                <a:latin typeface="Calibri"/>
              </a:rPr>
              <a:t>Global aktiv in ~/.claude · ECC 2.0.0-rc.1 (core, führend) · RTK-sicher</a:t>
            </a:r>
          </a:p>
          <a:p>
            <a:pPr algn="l"/>
            <a:r>
              <a:rPr sz="1400" b="0">
                <a:solidFill>
                  <a:srgbClr val="8B98B0"/>
                </a:solidFill>
                <a:latin typeface="Calibri"/>
              </a:rPr>
              <a:t>Quelle/Re-Install: ./install-vps.sh · Guides: @affaanmustafa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017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ÜBERBLICK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017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B98B0"/>
                </a:solidFill>
                <a:latin typeface="Calibri"/>
              </a:rPr>
              <a:t>1 /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6EDF8"/>
                </a:solidFill>
                <a:latin typeface="Calibri"/>
              </a:rPr>
              <a:t>§1 Was ist das Harness?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81328"/>
            <a:ext cx="201168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67665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818CF8"/>
                </a:solidFill>
                <a:latin typeface="Calibri"/>
              </a:rPr>
              <a:t>Fusion zweier Systeme — Fokus auf ECC:</a:t>
            </a:r>
          </a:p>
          <a:p>
            <a:pPr lvl="1" algn="l"/>
            <a:r>
              <a:rPr sz="1400" b="0">
                <a:solidFill>
                  <a:srgbClr val="E6EDF8"/>
                </a:solidFill>
                <a:latin typeface="Calibri"/>
              </a:rPr>
              <a:t>ECC-Engine: 63 Agents · 249 Skills · ~80 Commands,</a:t>
            </a:r>
          </a:p>
          <a:p>
            <a:pPr lvl="2" algn="l"/>
            <a:r>
              <a:rPr sz="1400" b="0">
                <a:solidFill>
                  <a:srgbClr val="8B98B0"/>
                </a:solidFill>
                <a:latin typeface="Calibri"/>
              </a:rPr>
              <a:t>manifest-Installer, Continuous Learning, Security-Scanning.</a:t>
            </a:r>
          </a:p>
          <a:p>
            <a:pPr lvl="1" algn="l"/>
            <a:r>
              <a:rPr sz="1400" b="0">
                <a:solidFill>
                  <a:srgbClr val="E6EDF8"/>
                </a:solidFill>
                <a:latin typeface="Calibri"/>
              </a:rPr>
              <a:t>BestPractice-Extras: /ecc-onboard (One-Shot-Setup),</a:t>
            </a:r>
          </a:p>
          <a:p>
            <a:pPr lvl="2" algn="l"/>
            <a:r>
              <a:rPr sz="1400" b="0">
                <a:solidFill>
                  <a:srgbClr val="8B98B0"/>
                </a:solidFill>
                <a:latin typeface="Calibri"/>
              </a:rPr>
              <a:t>state/-Pattern, Karpathy-Prinzipien.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737360"/>
            <a:ext cx="3931920" cy="237744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965960"/>
            <a:ext cx="33832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BBF24"/>
                </a:solidFill>
                <a:latin typeface="Calibri"/>
              </a:rPr>
              <a:t>„Konfiguration ist Fine-Tuning,</a:t>
            </a:r>
          </a:p>
          <a:p>
            <a:pPr algn="l"/>
            <a:r>
              <a:rPr sz="1700" b="1">
                <a:solidFill>
                  <a:srgbClr val="FBBF24"/>
                </a:solidFill>
                <a:latin typeface="Calibri"/>
              </a:rPr>
              <a:t>nicht Architektur.“</a:t>
            </a:r>
          </a:p>
          <a:p>
            <a:pPr algn="l"/>
            <a:r>
              <a:rPr sz="600" b="0">
                <a:solidFill>
                  <a:srgbClr val="E6EDF8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8B98B0"/>
                </a:solidFill>
                <a:latin typeface="Calibri"/>
              </a:rPr>
              <a:t>Muster wiederverwenden · Kontext sauber · billigstes Modell · Evidenz.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18CF8"/>
                </a:solidFill>
                <a:latin typeface="Calibri"/>
              </a:rPr>
              <a:t>5 Prinzipien:  Agent-First · Test-Driven · Security-First · Immutability · Plan-Before-Execute.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017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INSTALLATION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017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B98B0"/>
                </a:solidFill>
                <a:latin typeface="Calibri"/>
              </a:rPr>
              <a:t>2 /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6EDF8"/>
                </a:solidFill>
                <a:latin typeface="Calibri"/>
              </a:rPr>
              <a:t>§2 Setup &amp; VPS-Architektur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81328"/>
            <a:ext cx="201168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9728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818CF8"/>
                </a:solidFill>
                <a:latin typeface="Calibri"/>
              </a:rPr>
              <a:t>ECC ist GLOBAL (~/.claude) → aktiv in JEDEM VPS-Projekt (WMS, Jarvis, n8n …).</a:t>
            </a:r>
          </a:p>
          <a:p>
            <a:pPr algn="l"/>
            <a:r>
              <a:rPr sz="1400" b="0">
                <a:solidFill>
                  <a:srgbClr val="E6EDF8"/>
                </a:solidFill>
                <a:latin typeface="Calibri"/>
              </a:rPr>
              <a:t>Namespace-sicher (rules/ecc, skills/ecc) · RTK-Hook unangetastet · Installer additiv.</a:t>
            </a:r>
          </a:p>
          <a:p>
            <a:pPr algn="l"/>
            <a:r>
              <a:rPr sz="1400" b="0">
                <a:solidFill>
                  <a:srgbClr val="E6EDF8"/>
                </a:solidFill>
                <a:latin typeface="Calibri"/>
              </a:rPr>
              <a:t>Reproduzierbar: Repo = Quelle, Re-Install via ./install-vps.sh (idempotent, mit Backup).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3383280"/>
          <a:ext cx="10972800" cy="25603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7440"/>
                <a:gridCol w="3840480"/>
                <a:gridCol w="475488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2D3EE"/>
                          </a:solidFill>
                          <a:latin typeface="Calibri"/>
                        </a:rPr>
                        <a:t>Dein Tool</a:t>
                      </a:r>
                    </a:p>
                  </a:txBody>
                  <a:tcPr marT="36576" marB="36576" marL="73152" marR="73152">
                    <a:solidFill>
                      <a:srgbClr val="0E14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2D3EE"/>
                          </a:solidFill>
                          <a:latin typeface="Calibri"/>
                        </a:rPr>
                        <a:t>ECC-Pendant</a:t>
                      </a:r>
                    </a:p>
                  </a:txBody>
                  <a:tcPr marT="36576" marB="36576" marL="73152" marR="73152">
                    <a:solidFill>
                      <a:srgbClr val="0E14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2D3EE"/>
                          </a:solidFill>
                          <a:latin typeface="Calibri"/>
                        </a:rPr>
                        <a:t>Empfehlung</a:t>
                      </a:r>
                    </a:p>
                  </a:txBody>
                  <a:tcPr marT="36576" marB="36576" marL="73152" marR="73152">
                    <a:solidFill>
                      <a:srgbClr val="0E1424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6EDF8"/>
                          </a:solidFill>
                          <a:latin typeface="Calibri"/>
                        </a:rPr>
                        <a:t>superpowers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6EDF8"/>
                          </a:solidFill>
                          <a:latin typeface="Calibri"/>
                        </a:rPr>
                        <a:t>tdd-workflow, verification-loop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6EDF8"/>
                          </a:solidFill>
                          <a:latin typeface="Calibri"/>
                        </a:rPr>
                        <a:t>beides nutzbar; ECC bevorzugen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6EDF8"/>
                          </a:solidFill>
                          <a:latin typeface="Calibri"/>
                        </a:rPr>
                        <a:t>claude-mem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6EDF8"/>
                          </a:solidFill>
                          <a:latin typeface="Calibri"/>
                        </a:rPr>
                        <a:t>/save-session, learning-v2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6EDF8"/>
                          </a:solidFill>
                          <a:latin typeface="Calibri"/>
                        </a:rPr>
                        <a:t>primäre Memory-Quelle, auto-injiziert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6EDF8"/>
                          </a:solidFill>
                          <a:latin typeface="Calibri"/>
                        </a:rPr>
                        <a:t>RTK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6EDF8"/>
                          </a:solidFill>
                          <a:latin typeface="Calibri"/>
                        </a:rPr>
                        <a:t>Token-Ökonomie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6EDF8"/>
                          </a:solidFill>
                          <a:latin typeface="Calibri"/>
                        </a:rPr>
                        <a:t>ergänzen sich (Bash- vs Workflow-Ebene)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6EDF8"/>
                          </a:solidFill>
                          <a:latin typeface="Calibri"/>
                        </a:rPr>
                        <a:t>codex / superpowers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6EDF8"/>
                          </a:solidFill>
                          <a:latin typeface="Calibri"/>
                        </a:rPr>
                        <a:t>diverse Skills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6EDF8"/>
                          </a:solidFill>
                          <a:latin typeface="Calibri"/>
                        </a:rPr>
                        <a:t>eigenständig; bleiben aktiv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017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BAUSTEINE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017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B98B0"/>
                </a:solidFill>
                <a:latin typeface="Calibri"/>
              </a:rPr>
              <a:t>3 /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6EDF8"/>
                </a:solidFill>
                <a:latin typeface="Calibri"/>
              </a:rPr>
              <a:t>§3 Mentales Modell — die Bausteine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81328"/>
            <a:ext cx="201168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2697480" cy="155448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911095"/>
            <a:ext cx="2368296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Calibri"/>
              </a:rPr>
              <a:t>Skills</a:t>
            </a:r>
          </a:p>
          <a:p>
            <a:pPr algn="l"/>
            <a:r>
              <a:rPr sz="1050" b="0">
                <a:solidFill>
                  <a:srgbClr val="8B98B0"/>
                </a:solidFill>
                <a:latin typeface="Calibri"/>
              </a:rPr>
              <a:t>Durable Kern: wiederverwendbare Workflow-Bündel, laden on-demand</a:t>
            </a:r>
          </a:p>
          <a:p>
            <a:pPr algn="l"/>
            <a:r>
              <a:rPr sz="950" b="0">
                <a:solidFill>
                  <a:srgbClr val="818CF8"/>
                </a:solidFill>
                <a:latin typeface="Calibri"/>
              </a:rPr>
              <a:t>~/.claude/skills/ecc/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783080"/>
            <a:ext cx="2697480" cy="155448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5032" y="1911095"/>
            <a:ext cx="2368296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Calibri"/>
              </a:rPr>
              <a:t>Commands</a:t>
            </a:r>
          </a:p>
          <a:p>
            <a:pPr algn="l"/>
            <a:r>
              <a:rPr sz="1050" b="0">
                <a:solidFill>
                  <a:srgbClr val="8B98B0"/>
                </a:solidFill>
                <a:latin typeface="Calibri"/>
              </a:rPr>
              <a:t>Slash-Einstiegspunkte (/plan, /code-review …)</a:t>
            </a:r>
          </a:p>
          <a:p>
            <a:pPr algn="l"/>
            <a:r>
              <a:rPr sz="950" b="0">
                <a:solidFill>
                  <a:srgbClr val="818CF8"/>
                </a:solidFill>
                <a:latin typeface="Calibri"/>
              </a:rPr>
              <a:t>~/.claude/commands/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783080"/>
            <a:ext cx="2697480" cy="155448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911095"/>
            <a:ext cx="2368296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Calibri"/>
              </a:rPr>
              <a:t>Subagents</a:t>
            </a:r>
          </a:p>
          <a:p>
            <a:pPr algn="l"/>
            <a:r>
              <a:rPr sz="1050" b="0">
                <a:solidFill>
                  <a:srgbClr val="8B98B0"/>
                </a:solidFill>
                <a:latin typeface="Calibri"/>
              </a:rPr>
              <a:t>Delegierbare Spezialisten mit eigenem Tool-Scope</a:t>
            </a:r>
          </a:p>
          <a:p>
            <a:pPr algn="l"/>
            <a:r>
              <a:rPr sz="950" b="0">
                <a:solidFill>
                  <a:srgbClr val="818CF8"/>
                </a:solidFill>
                <a:latin typeface="Calibri"/>
              </a:rPr>
              <a:t>~/.claude/agents/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81160" y="1783080"/>
            <a:ext cx="2697480" cy="155448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45752" y="1911095"/>
            <a:ext cx="2368296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Calibri"/>
              </a:rPr>
              <a:t>Hooks</a:t>
            </a:r>
          </a:p>
          <a:p>
            <a:pPr algn="l"/>
            <a:r>
              <a:rPr sz="1050" b="0">
                <a:solidFill>
                  <a:srgbClr val="8B98B0"/>
                </a:solidFill>
                <a:latin typeface="Calibri"/>
              </a:rPr>
              <a:t>Trigger-Automatik an Lifecycle-Events (INAKTIV per Default)</a:t>
            </a:r>
          </a:p>
          <a:p>
            <a:pPr algn="l"/>
            <a:r>
              <a:rPr sz="950" b="0">
                <a:solidFill>
                  <a:srgbClr val="818CF8"/>
                </a:solidFill>
                <a:latin typeface="Calibri"/>
              </a:rPr>
              <a:t>~/.claude/hooks/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20440"/>
            <a:ext cx="2697480" cy="155448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" y="3648456"/>
            <a:ext cx="2368296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Calibri"/>
              </a:rPr>
              <a:t>Rules</a:t>
            </a:r>
          </a:p>
          <a:p>
            <a:pPr algn="l"/>
            <a:r>
              <a:rPr sz="1050" b="0">
                <a:solidFill>
                  <a:srgbClr val="8B98B0"/>
                </a:solidFill>
                <a:latin typeface="Calibri"/>
              </a:rPr>
              <a:t>„Immer befolgen"-Leitlinien je Sprache</a:t>
            </a:r>
          </a:p>
          <a:p>
            <a:pPr algn="l"/>
            <a:r>
              <a:rPr sz="950" b="0">
                <a:solidFill>
                  <a:srgbClr val="818CF8"/>
                </a:solidFill>
                <a:latin typeface="Calibri"/>
              </a:rPr>
              <a:t>~/.claude/rules/ecc/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0440" y="3520440"/>
            <a:ext cx="2697480" cy="155448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85032" y="3648456"/>
            <a:ext cx="2368296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Calibri"/>
              </a:rPr>
              <a:t>MCP</a:t>
            </a:r>
          </a:p>
          <a:p>
            <a:pPr algn="l"/>
            <a:r>
              <a:rPr sz="1050" b="0">
                <a:solidFill>
                  <a:srgbClr val="8B98B0"/>
                </a:solidFill>
                <a:latin typeface="Calibri"/>
              </a:rPr>
              <a:t>Prompt-getriebene Wrapper um externe Dienste</a:t>
            </a:r>
          </a:p>
          <a:p>
            <a:pPr algn="l"/>
            <a:r>
              <a:rPr sz="950" b="0">
                <a:solidFill>
                  <a:srgbClr val="818CF8"/>
                </a:solidFill>
                <a:latin typeface="Calibri"/>
              </a:rPr>
              <a:t>.mcp.json / global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520440"/>
            <a:ext cx="2697480" cy="155448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3648456"/>
            <a:ext cx="2368296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Calibri"/>
              </a:rPr>
              <a:t>Instincts</a:t>
            </a:r>
          </a:p>
          <a:p>
            <a:pPr algn="l"/>
            <a:r>
              <a:rPr sz="1050" b="0">
                <a:solidFill>
                  <a:srgbClr val="8B98B0"/>
                </a:solidFill>
                <a:latin typeface="Calibri"/>
              </a:rPr>
              <a:t>Gelernte Muster aus deinen Sessions</a:t>
            </a:r>
          </a:p>
          <a:p>
            <a:pPr algn="l"/>
            <a:r>
              <a:rPr sz="950" b="0">
                <a:solidFill>
                  <a:srgbClr val="818CF8"/>
                </a:solidFill>
                <a:latin typeface="Calibri"/>
              </a:rPr>
              <a:t>homunculus/instincts/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94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  <a:latin typeface="Calibri"/>
              </a:rPr>
              <a:t>Regel:  Durable Logik → Skills.  3× getippt → /skill-create.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017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KATALOG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017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B98B0"/>
                </a:solidFill>
                <a:latin typeface="Calibri"/>
              </a:rPr>
              <a:t>4 /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6EDF8"/>
                </a:solidFill>
                <a:latin typeface="Calibri"/>
              </a:rPr>
              <a:t>§4 Agent- &amp; Skill-Katalog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81328"/>
            <a:ext cx="201168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166360" cy="196596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74519"/>
            <a:ext cx="4800600" cy="1691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Calibri"/>
              </a:rPr>
              <a:t>Core-Workflow-Agents</a:t>
            </a:r>
          </a:p>
          <a:p>
            <a:pPr algn="l"/>
            <a:r>
              <a:rPr sz="1050" b="0">
                <a:solidFill>
                  <a:srgbClr val="E6EDF8"/>
                </a:solidFill>
                <a:latin typeface="Calibri"/>
              </a:rPr>
              <a:t>planner · architect / code-architect · code-explorer · tdd-guide · code-reviewer · security-reviewer · build-error-resolver · refactor-cleaner · e2e-runner · doc-updater · performance-optimizer · silent-failure-hunter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737360"/>
            <a:ext cx="5166360" cy="196596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74519"/>
            <a:ext cx="4800600" cy="1691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Calibri"/>
              </a:rPr>
              <a:t>Sprach-Reviewer</a:t>
            </a:r>
          </a:p>
          <a:p>
            <a:pPr algn="l"/>
            <a:r>
              <a:rPr sz="1050" b="0">
                <a:solidFill>
                  <a:srgbClr val="E6EDF8"/>
                </a:solidFill>
                <a:latin typeface="Calibri"/>
              </a:rPr>
              <a:t>python-reviewer · typescript-reviewer · react-reviewer · go-reviewer · rust-reviewer · cpp-reviewer · java-reviewer · kotlin-reviewer · swift-reviewer · csharp-reviewer · fsharp-reviewer · django-reviewer · fastapi-reviewer · flutter-reviewer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86200"/>
            <a:ext cx="5166360" cy="196596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4023360"/>
            <a:ext cx="4800600" cy="1691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Calibri"/>
              </a:rPr>
              <a:t>Build-Resolver</a:t>
            </a:r>
          </a:p>
          <a:p>
            <a:pPr algn="l"/>
            <a:r>
              <a:rPr sz="1050" b="0">
                <a:solidFill>
                  <a:srgbClr val="E6EDF8"/>
                </a:solidFill>
                <a:latin typeface="Calibri"/>
              </a:rPr>
              <a:t>go-build-resolver · rust-build-resolver · cpp-build-resolver · java-build-resolver · kotlin-build-resolver · swift-build-resolver · dart-build-resolver · django-build-resolver · react-build-resolver · pytorch-build-resolver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886200"/>
            <a:ext cx="5166360" cy="196596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023360"/>
            <a:ext cx="4800600" cy="1691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Calibri"/>
              </a:rPr>
              <a:t>Schlüssel-Skills</a:t>
            </a:r>
          </a:p>
          <a:p>
            <a:pPr algn="l"/>
            <a:r>
              <a:rPr sz="1050" b="0">
                <a:solidFill>
                  <a:srgbClr val="E6EDF8"/>
                </a:solidFill>
                <a:latin typeface="Calibri"/>
              </a:rPr>
              <a:t>tdd-workflow · verification-loop · code-tour · production-audit · eval-harness · iterative-retrieval · continuous-learning-v2 · strategic-compact · configure-ecc · council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8B0"/>
                </a:solidFill>
                <a:latin typeface="Calibri"/>
              </a:rPr>
              <a:t>63 Agents · 21 Skills (core; 249 via --profile full) · claude-mem + superpowers koexistieren.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017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017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B98B0"/>
                </a:solidFill>
                <a:latin typeface="Calibri"/>
              </a:rPr>
              <a:t>5 /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6EDF8"/>
                </a:solidFill>
                <a:latin typeface="Calibri"/>
              </a:rPr>
              <a:t>§5 Workflow — die 5 Phasen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81328"/>
            <a:ext cx="201168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1993392" cy="210312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176272"/>
            <a:ext cx="1773936" cy="1828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22D3EE"/>
                </a:solidFill>
                <a:latin typeface="Calibri"/>
              </a:rPr>
              <a:t>1</a:t>
            </a:r>
          </a:p>
          <a:p>
            <a:pPr algn="l"/>
            <a:r>
              <a:rPr sz="1400" b="1">
                <a:solidFill>
                  <a:srgbClr val="E6EDF8"/>
                </a:solidFill>
                <a:latin typeface="Calibri"/>
              </a:rPr>
              <a:t>RESEARCH</a:t>
            </a:r>
          </a:p>
          <a:p>
            <a:pPr algn="l"/>
            <a:r>
              <a:rPr sz="1000" b="0">
                <a:solidFill>
                  <a:srgbClr val="8B98B0"/>
                </a:solidFill>
                <a:latin typeface="Calibri"/>
              </a:rPr>
              <a:t>Explore · claude-mem</a:t>
            </a:r>
          </a:p>
          <a:p>
            <a:pPr algn="l"/>
            <a:r>
              <a:rPr sz="1000" b="0">
                <a:solidFill>
                  <a:srgbClr val="22D3EE"/>
                </a:solidFill>
                <a:latin typeface="Calibri"/>
              </a:rPr>
              <a:t>→ research.md</a:t>
            </a:r>
          </a:p>
        </p:txBody>
      </p:sp>
      <p:sp>
        <p:nvSpPr>
          <p:cNvPr id="9" name="Chevron 8"/>
          <p:cNvSpPr/>
          <p:nvPr/>
        </p:nvSpPr>
        <p:spPr>
          <a:xfrm>
            <a:off x="2514600" y="2898648"/>
            <a:ext cx="256032" cy="329184"/>
          </a:xfrm>
          <a:prstGeom prst="chevron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88920" y="2011680"/>
            <a:ext cx="1993392" cy="210312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98648" y="2176272"/>
            <a:ext cx="1773936" cy="1828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22D3EE"/>
                </a:solidFill>
                <a:latin typeface="Calibri"/>
              </a:rPr>
              <a:t>2</a:t>
            </a:r>
          </a:p>
          <a:p>
            <a:pPr algn="l"/>
            <a:r>
              <a:rPr sz="1400" b="1">
                <a:solidFill>
                  <a:srgbClr val="E6EDF8"/>
                </a:solidFill>
                <a:latin typeface="Calibri"/>
              </a:rPr>
              <a:t>PLAN</a:t>
            </a:r>
          </a:p>
          <a:p>
            <a:pPr algn="l"/>
            <a:r>
              <a:rPr sz="1000" b="0">
                <a:solidFill>
                  <a:srgbClr val="8B98B0"/>
                </a:solidFill>
                <a:latin typeface="Calibri"/>
              </a:rPr>
              <a:t>/plan</a:t>
            </a:r>
          </a:p>
          <a:p>
            <a:pPr algn="l"/>
            <a:r>
              <a:rPr sz="1000" b="0">
                <a:solidFill>
                  <a:srgbClr val="22D3EE"/>
                </a:solidFill>
                <a:latin typeface="Calibri"/>
              </a:rPr>
              <a:t>→ plan.md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0600" y="2898648"/>
            <a:ext cx="256032" cy="329184"/>
          </a:xfrm>
          <a:prstGeom prst="chevron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74920" y="2011680"/>
            <a:ext cx="1993392" cy="210312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84648" y="2176272"/>
            <a:ext cx="1773936" cy="1828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22D3EE"/>
                </a:solidFill>
                <a:latin typeface="Calibri"/>
              </a:rPr>
              <a:t>3</a:t>
            </a:r>
          </a:p>
          <a:p>
            <a:pPr algn="l"/>
            <a:r>
              <a:rPr sz="1400" b="1">
                <a:solidFill>
                  <a:srgbClr val="E6EDF8"/>
                </a:solidFill>
                <a:latin typeface="Calibri"/>
              </a:rPr>
              <a:t>IMPLEMENT</a:t>
            </a:r>
          </a:p>
          <a:p>
            <a:pPr algn="l"/>
            <a:r>
              <a:rPr sz="1000" b="0">
                <a:solidFill>
                  <a:srgbClr val="8B98B0"/>
                </a:solidFill>
                <a:latin typeface="Calibri"/>
              </a:rPr>
              <a:t>/feature-dev + tdd-workflow</a:t>
            </a:r>
          </a:p>
          <a:p>
            <a:pPr algn="l"/>
            <a:r>
              <a:rPr sz="1000" b="0">
                <a:solidFill>
                  <a:srgbClr val="22D3EE"/>
                </a:solidFill>
                <a:latin typeface="Calibri"/>
              </a:rPr>
              <a:t>→ Code + Tests</a:t>
            </a:r>
          </a:p>
        </p:txBody>
      </p:sp>
      <p:sp>
        <p:nvSpPr>
          <p:cNvPr id="15" name="Chevron 14"/>
          <p:cNvSpPr/>
          <p:nvPr/>
        </p:nvSpPr>
        <p:spPr>
          <a:xfrm>
            <a:off x="7086600" y="2898648"/>
            <a:ext cx="256032" cy="329184"/>
          </a:xfrm>
          <a:prstGeom prst="chevron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60920" y="2011680"/>
            <a:ext cx="1993392" cy="210312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0648" y="2176272"/>
            <a:ext cx="1773936" cy="1828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22D3EE"/>
                </a:solidFill>
                <a:latin typeface="Calibri"/>
              </a:rPr>
              <a:t>4</a:t>
            </a:r>
          </a:p>
          <a:p>
            <a:pPr algn="l"/>
            <a:r>
              <a:rPr sz="1400" b="1">
                <a:solidFill>
                  <a:srgbClr val="E6EDF8"/>
                </a:solidFill>
                <a:latin typeface="Calibri"/>
              </a:rPr>
              <a:t>REVIEW</a:t>
            </a:r>
          </a:p>
          <a:p>
            <a:pPr algn="l"/>
            <a:r>
              <a:rPr sz="1000" b="0">
                <a:solidFill>
                  <a:srgbClr val="8B98B0"/>
                </a:solidFill>
                <a:latin typeface="Calibri"/>
              </a:rPr>
              <a:t>/code-review</a:t>
            </a:r>
          </a:p>
          <a:p>
            <a:pPr algn="l"/>
            <a:r>
              <a:rPr sz="1000" b="0">
                <a:solidFill>
                  <a:srgbClr val="22D3EE"/>
                </a:solidFill>
                <a:latin typeface="Calibri"/>
              </a:rPr>
              <a:t>→ review.md</a:t>
            </a:r>
          </a:p>
        </p:txBody>
      </p:sp>
      <p:sp>
        <p:nvSpPr>
          <p:cNvPr id="18" name="Chevron 17"/>
          <p:cNvSpPr/>
          <p:nvPr/>
        </p:nvSpPr>
        <p:spPr>
          <a:xfrm>
            <a:off x="9372600" y="2898648"/>
            <a:ext cx="256032" cy="329184"/>
          </a:xfrm>
          <a:prstGeom prst="chevron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46920" y="2011680"/>
            <a:ext cx="1993392" cy="210312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56648" y="2176272"/>
            <a:ext cx="1773936" cy="1828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22D3EE"/>
                </a:solidFill>
                <a:latin typeface="Calibri"/>
              </a:rPr>
              <a:t>5</a:t>
            </a:r>
          </a:p>
          <a:p>
            <a:pPr algn="l"/>
            <a:r>
              <a:rPr sz="1400" b="1">
                <a:solidFill>
                  <a:srgbClr val="E6EDF8"/>
                </a:solidFill>
                <a:latin typeface="Calibri"/>
              </a:rPr>
              <a:t>VERIFY</a:t>
            </a:r>
          </a:p>
          <a:p>
            <a:pPr algn="l"/>
            <a:r>
              <a:rPr sz="1000" b="0">
                <a:solidFill>
                  <a:srgbClr val="8B98B0"/>
                </a:solidFill>
                <a:latin typeface="Calibri"/>
              </a:rPr>
              <a:t>Tests · Build · /build-fix</a:t>
            </a:r>
          </a:p>
          <a:p>
            <a:pPr algn="l"/>
            <a:r>
              <a:rPr sz="1000" b="0">
                <a:solidFill>
                  <a:srgbClr val="22D3EE"/>
                </a:solidFill>
                <a:latin typeface="Calibri"/>
              </a:rPr>
              <a:t>→ grün 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52628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8B98B0"/>
                </a:solidFill>
                <a:latin typeface="Calibri"/>
              </a:rPr>
              <a:t>Ein Input, ein Output je Schritt — in Dateien speichern.</a:t>
            </a:r>
          </a:p>
          <a:p>
            <a:pPr algn="l"/>
            <a:r>
              <a:rPr sz="1400" b="0">
                <a:solidFill>
                  <a:srgbClr val="8B98B0"/>
                </a:solidFill>
                <a:latin typeface="Calibri"/>
              </a:rPr>
              <a:t>/clear zwischen großen Phasen — Explorations-Kontext ist für die Umsetzung irrelevant.</a:t>
            </a:r>
          </a:p>
          <a:p>
            <a:pPr algn="l"/>
            <a:r>
              <a:rPr sz="1400" b="0">
                <a:solidFill>
                  <a:srgbClr val="8B98B0"/>
                </a:solidFill>
                <a:latin typeface="Calibri"/>
              </a:rPr>
              <a:t>Subagents immer objektiven Kontext mitgeben, nicht nur die Frage.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017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017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B98B0"/>
                </a:solidFill>
                <a:latin typeface="Calibri"/>
              </a:rPr>
              <a:t>6 /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6EDF8"/>
                </a:solidFill>
                <a:latin typeface="Calibri"/>
              </a:rPr>
              <a:t>§6a Projekt-Onboarding mit /ecc-onboard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81328"/>
            <a:ext cx="201168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2139696" cy="274320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2130552"/>
            <a:ext cx="1847088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Calibri"/>
              </a:rPr>
              <a:t>1 · Detect</a:t>
            </a:r>
          </a:p>
          <a:p>
            <a:pPr algn="l"/>
            <a:r>
              <a:rPr sz="1100" b="0">
                <a:solidFill>
                  <a:srgbClr val="E6EDF8"/>
                </a:solidFill>
                <a:latin typeface="Calibri"/>
              </a:rPr>
              <a:t>Stack erkennen (package.json, go.mod …)</a:t>
            </a:r>
          </a:p>
          <a:p>
            <a:pPr algn="l"/>
            <a:r>
              <a:rPr sz="400" b="0">
                <a:solidFill>
                  <a:srgbClr val="E6EDF8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818CF8"/>
                </a:solidFill>
                <a:latin typeface="Calibri"/>
              </a:rPr>
              <a:t>→ Profil + Sprach-Packs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07208" y="1965960"/>
            <a:ext cx="2139696" cy="274320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53512" y="2130552"/>
            <a:ext cx="1847088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Calibri"/>
              </a:rPr>
              <a:t>2 · Dry-Run</a:t>
            </a:r>
          </a:p>
          <a:p>
            <a:pPr algn="l"/>
            <a:r>
              <a:rPr sz="1100" b="0">
                <a:solidFill>
                  <a:srgbClr val="E6EDF8"/>
                </a:solidFill>
                <a:latin typeface="Calibri"/>
              </a:rPr>
              <a:t>install-apply --dry-run</a:t>
            </a:r>
          </a:p>
          <a:p>
            <a:pPr algn="l"/>
            <a:r>
              <a:rPr sz="400" b="0">
                <a:solidFill>
                  <a:srgbClr val="E6EDF8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818CF8"/>
                </a:solidFill>
                <a:latin typeface="Calibri"/>
              </a:rPr>
              <a:t>→ Plan ohne Schreiben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11496" y="1965960"/>
            <a:ext cx="2139696" cy="274320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2130552"/>
            <a:ext cx="1847088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Calibri"/>
              </a:rPr>
              <a:t>3 · OK</a:t>
            </a:r>
          </a:p>
          <a:p>
            <a:pPr algn="l"/>
            <a:r>
              <a:rPr sz="1100" b="0">
                <a:solidFill>
                  <a:srgbClr val="E6EDF8"/>
                </a:solidFill>
                <a:latin typeface="Calibri"/>
              </a:rPr>
              <a:t>1× Bestätigung des Users</a:t>
            </a:r>
          </a:p>
          <a:p>
            <a:pPr algn="l"/>
            <a:r>
              <a:rPr sz="400" b="0">
                <a:solidFill>
                  <a:srgbClr val="E6EDF8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818CF8"/>
                </a:solidFill>
                <a:latin typeface="Calibri"/>
              </a:rPr>
              <a:t>→ Freigabe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15783" y="1965960"/>
            <a:ext cx="2139696" cy="274320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62088" y="2130552"/>
            <a:ext cx="1847088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Calibri"/>
              </a:rPr>
              <a:t>4 · Install</a:t>
            </a:r>
          </a:p>
          <a:p>
            <a:pPr algn="l"/>
            <a:r>
              <a:rPr sz="1100" b="0">
                <a:solidFill>
                  <a:srgbClr val="E6EDF8"/>
                </a:solidFill>
                <a:latin typeface="Calibri"/>
              </a:rPr>
              <a:t>install-apply --target claude-project</a:t>
            </a:r>
          </a:p>
          <a:p>
            <a:pPr algn="l"/>
            <a:r>
              <a:rPr sz="400" b="0">
                <a:solidFill>
                  <a:srgbClr val="E6EDF8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818CF8"/>
                </a:solidFill>
                <a:latin typeface="Calibri"/>
              </a:rPr>
              <a:t>→ .claude/rules/ecc + skills/ecc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20072" y="1965960"/>
            <a:ext cx="2139696" cy="274320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66376" y="2130552"/>
            <a:ext cx="1847088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Calibri"/>
              </a:rPr>
              <a:t>5 · Kontext</a:t>
            </a:r>
          </a:p>
          <a:p>
            <a:pPr algn="l"/>
            <a:r>
              <a:rPr sz="1100" b="0">
                <a:solidFill>
                  <a:srgbClr val="E6EDF8"/>
                </a:solidFill>
                <a:latin typeface="Calibri"/>
              </a:rPr>
              <a:t>Templates mit echten Werten füllen</a:t>
            </a:r>
          </a:p>
          <a:p>
            <a:pPr algn="l"/>
            <a:r>
              <a:rPr sz="400" b="0">
                <a:solidFill>
                  <a:srgbClr val="E6EDF8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818CF8"/>
                </a:solidFill>
                <a:latin typeface="Calibri"/>
              </a:rPr>
              <a:t>→ PROJECT_RULES.md + state/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206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  <a:latin typeface="Calibri"/>
              </a:rPr>
              <a:t>Aus dem Zielprojekt ausführen — Install landet im aktuellen cwd.</a:t>
            </a:r>
          </a:p>
          <a:p>
            <a:pPr algn="l"/>
            <a:r>
              <a:rPr sz="1400" b="0">
                <a:solidFill>
                  <a:srgbClr val="8B98B0"/>
                </a:solidFill>
                <a:latin typeface="Calibri"/>
              </a:rPr>
              <a:t>Idempotent: erneut ausführen merged, überschreibt nichts blind.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017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CODEMAPS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017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B98B0"/>
                </a:solidFill>
                <a:latin typeface="Calibri"/>
              </a:rPr>
              <a:t>7 /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6EDF8"/>
                </a:solidFill>
                <a:latin typeface="Calibri"/>
              </a:rPr>
              <a:t>§6b Codebase EINMAL erkunden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81328"/>
            <a:ext cx="201168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18CF8"/>
                </a:solidFill>
                <a:latin typeface="Calibri"/>
              </a:rPr>
              <a:t>Prinzip: einmal kartieren → in Dateien festhalten → künftig die Karte lesen statt neu suchen.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514600"/>
          <a:ext cx="10972799" cy="2651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017520"/>
                <a:gridCol w="7955279"/>
              </a:tblGrid>
              <a:tr h="44196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2D3EE"/>
                          </a:solidFill>
                          <a:latin typeface="Calibri"/>
                        </a:rPr>
                        <a:t>Datei (docs/CODEMAPS/)</a:t>
                      </a:r>
                    </a:p>
                  </a:txBody>
                  <a:tcPr marT="36576" marB="36576" marL="73152" marR="73152">
                    <a:solidFill>
                      <a:srgbClr val="0E14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2D3EE"/>
                          </a:solidFill>
                          <a:latin typeface="Calibri"/>
                        </a:rPr>
                        <a:t>Inhalt</a:t>
                      </a:r>
                    </a:p>
                  </a:txBody>
                  <a:tcPr marT="36576" marB="36576" marL="73152" marR="73152">
                    <a:solidFill>
                      <a:srgbClr val="0E1424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6EDF8"/>
                          </a:solidFill>
                          <a:latin typeface="Calibri"/>
                        </a:rPr>
                        <a:t>architecture.md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6EDF8"/>
                          </a:solidFill>
                          <a:latin typeface="Calibri"/>
                        </a:rPr>
                        <a:t>System-Diagramm, Service-Grenzen, Datenfluss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6EDF8"/>
                          </a:solidFill>
                          <a:latin typeface="Calibri"/>
                        </a:rPr>
                        <a:t>backend.md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6EDF8"/>
                          </a:solidFill>
                          <a:latin typeface="Calibri"/>
                        </a:rPr>
                        <a:t>Routes → Controller → Service → Repository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6EDF8"/>
                          </a:solidFill>
                          <a:latin typeface="Calibri"/>
                        </a:rPr>
                        <a:t>frontend.md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6EDF8"/>
                          </a:solidFill>
                          <a:latin typeface="Calibri"/>
                        </a:rPr>
                        <a:t>Page-Tree, Komponenten, State-Flow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6EDF8"/>
                          </a:solidFill>
                          <a:latin typeface="Calibri"/>
                        </a:rPr>
                        <a:t>data.md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6EDF8"/>
                          </a:solidFill>
                          <a:latin typeface="Calibri"/>
                        </a:rPr>
                        <a:t>Tabellen, Relationen, Migrationen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</a:tr>
              <a:tr h="4419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6EDF8"/>
                          </a:solidFill>
                          <a:latin typeface="Calibri"/>
                        </a:rPr>
                        <a:t>dependencies.md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6EDF8"/>
                          </a:solidFill>
                          <a:latin typeface="Calibri"/>
                        </a:rPr>
                        <a:t>externe Dienste, Integrationen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349240"/>
            <a:ext cx="10972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Snapshot — nach Architektur-Änderung neu bauen. Fremdes Repo: code-tour / claude-mem smart-explore.</a:t>
            </a:r>
          </a:p>
          <a:p>
            <a:pPr algn="l"/>
            <a:r>
              <a:rPr sz="1300" b="0">
                <a:solidFill>
                  <a:srgbClr val="8B98B0"/>
                </a:solidFill>
                <a:latin typeface="Calibri"/>
              </a:rPr>
              <a:t>Pro Aufgabe: research.md (Explore-Agent) → /plan. claude-mem injiziert Alt-Kontext automatisch.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017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017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B98B0"/>
                </a:solidFill>
                <a:latin typeface="Calibri"/>
              </a:rPr>
              <a:t>8 /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6EDF8"/>
                </a:solidFill>
                <a:latin typeface="Calibri"/>
              </a:rPr>
              <a:t>§7a Zwei Startpunkte — leer oder Codebase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81328"/>
            <a:ext cx="201168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349240" cy="320040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493776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Calibri"/>
              </a:rPr>
              <a:t>LEERES PROJEKT (greenfield)</a:t>
            </a:r>
          </a:p>
          <a:p>
            <a:pPr algn="l"/>
            <a:r>
              <a:rPr sz="600" b="0">
                <a:solidFill>
                  <a:srgbClr val="E6EDF8"/>
                </a:solidFill>
                <a:latin typeface="Calibri"/>
              </a:rPr>
              <a:t/>
            </a:r>
          </a:p>
          <a:p>
            <a:pPr algn="l"/>
            <a:r>
              <a:rPr sz="1250" b="0">
                <a:solidFill>
                  <a:srgbClr val="9CE3F0"/>
                </a:solidFill>
                <a:latin typeface="Consolas"/>
              </a:rPr>
              <a:t>mkdir app &amp;&amp; cd app &amp;&amp; git init</a:t>
            </a:r>
          </a:p>
          <a:p>
            <a:pPr algn="l"/>
            <a:r>
              <a:rPr sz="1250" b="0">
                <a:solidFill>
                  <a:srgbClr val="9CE3F0"/>
                </a:solidFill>
                <a:latin typeface="Consolas"/>
              </a:rPr>
              <a:t>claude</a:t>
            </a:r>
          </a:p>
          <a:p>
            <a:pPr algn="l"/>
            <a:r>
              <a:rPr sz="1250" b="0">
                <a:solidFill>
                  <a:srgbClr val="9CE3F0"/>
                </a:solidFill>
                <a:latin typeface="Consolas"/>
              </a:rPr>
              <a:t>/ecc-onboard      # Stack → 1x OK</a:t>
            </a:r>
          </a:p>
          <a:p>
            <a:pPr algn="l"/>
            <a:r>
              <a:rPr sz="1250" b="0">
                <a:solidFill>
                  <a:srgbClr val="9CE3F0"/>
                </a:solidFill>
                <a:latin typeface="Consolas"/>
              </a:rPr>
              <a:t>/plan  Baue &lt;Feature&gt; 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303520" cy="320040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93392"/>
            <a:ext cx="4892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Calibri"/>
              </a:rPr>
              <a:t>BESTEHENDE CODEBASE</a:t>
            </a:r>
          </a:p>
          <a:p>
            <a:pPr algn="l"/>
            <a:r>
              <a:rPr sz="600" b="0">
                <a:solidFill>
                  <a:srgbClr val="E6EDF8"/>
                </a:solidFill>
                <a:latin typeface="Calibri"/>
              </a:rPr>
              <a:t/>
            </a:r>
          </a:p>
          <a:p>
            <a:pPr algn="l"/>
            <a:r>
              <a:rPr sz="1250" b="0">
                <a:solidFill>
                  <a:srgbClr val="9CE3F0"/>
                </a:solidFill>
                <a:latin typeface="Consolas"/>
              </a:rPr>
              <a:t>git clone &lt;repo&gt; &amp;&amp; cd &lt;repo&gt;</a:t>
            </a:r>
          </a:p>
          <a:p>
            <a:pPr algn="l"/>
            <a:r>
              <a:rPr sz="1250" b="0">
                <a:solidFill>
                  <a:srgbClr val="9CE3F0"/>
                </a:solidFill>
                <a:latin typeface="Consolas"/>
              </a:rPr>
              <a:t>claude</a:t>
            </a:r>
          </a:p>
          <a:p>
            <a:pPr algn="l"/>
            <a:r>
              <a:rPr sz="1250" b="0">
                <a:solidFill>
                  <a:srgbClr val="9CE3F0"/>
                </a:solidFill>
                <a:latin typeface="Consolas"/>
              </a:rPr>
              <a:t>/ecc-onboard      # Stack erkannt</a:t>
            </a:r>
          </a:p>
          <a:p>
            <a:pPr algn="l"/>
            <a:r>
              <a:rPr sz="1250" b="0">
                <a:solidFill>
                  <a:srgbClr val="9CE3F0"/>
                </a:solidFill>
                <a:latin typeface="Consolas"/>
              </a:rPr>
              <a:t>/update-codemaps  # EINMAL kartieren</a:t>
            </a:r>
          </a:p>
          <a:p>
            <a:pPr algn="l"/>
            <a:r>
              <a:rPr sz="1250" b="0">
                <a:solidFill>
                  <a:srgbClr val="9CE3F0"/>
                </a:solidFill>
                <a:latin typeface="Consolas"/>
              </a:rPr>
              <a:t>code-tour · smart-explore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12080"/>
            <a:ext cx="10972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BBF24"/>
                </a:solidFill>
                <a:latin typeface="Calibri"/>
              </a:rPr>
              <a:t>Einmal, nicht jedes Mal: /ecc-onboard + /update-codemaps laufen pro Projekt EINMAL.</a:t>
            </a:r>
          </a:p>
          <a:p>
            <a:pPr algn="l"/>
            <a:r>
              <a:rPr sz="1300" b="0">
                <a:solidFill>
                  <a:srgbClr val="8B98B0"/>
                </a:solidFill>
                <a:latin typeface="Calibri"/>
              </a:rPr>
              <a:t>Ergebnis ist persistent (Dateien) — jede Folge-Session startet mit der kompakten Karte.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017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DURCHGESPIELT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017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B98B0"/>
                </a:solidFill>
                <a:latin typeface="Calibri"/>
              </a:rPr>
              <a:t>9 /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6EDF8"/>
                </a:solidFill>
                <a:latin typeface="Calibri"/>
              </a:rPr>
              <a:t>§7b Ein Feature von 0 auf grün — /api/search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81328"/>
            <a:ext cx="201168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83080"/>
          <a:ext cx="11155679" cy="3291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5577840"/>
                <a:gridCol w="3749039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2D3EE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marT="36576" marB="36576" marL="73152" marR="73152">
                    <a:solidFill>
                      <a:srgbClr val="0E14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2D3EE"/>
                          </a:solidFill>
                          <a:latin typeface="Calibri"/>
                        </a:rPr>
                        <a:t>Du tippst</a:t>
                      </a:r>
                    </a:p>
                  </a:txBody>
                  <a:tcPr marT="36576" marB="36576" marL="73152" marR="73152">
                    <a:solidFill>
                      <a:srgbClr val="0E14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2D3EE"/>
                          </a:solidFill>
                          <a:latin typeface="Calibri"/>
                        </a:rPr>
                        <a:t>→ Output · Modell</a:t>
                      </a:r>
                    </a:p>
                  </a:txBody>
                  <a:tcPr marT="36576" marB="36576" marL="73152" marR="73152">
                    <a:solidFill>
                      <a:srgbClr val="0E142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1 RESEARCH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Explore-Agent: Routing/Handler/Tests kartieren (+ claude-mem)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research.md · Haiku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2 PLAN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/plan  /api/search: Query → Filter → Paginierung, Tests zuerst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plan.md (wartet) · Opus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3 IMPLEMENT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/feature-dev  plan.md umsetzen (tdd-workflow: Tests zuerst)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Code+Tests RED→GREEN · Sonnet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4 REVIEW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/code-review  (+ /python-review …)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review.md · Opus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5 VERIFY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Tests/Build grün? sonst /build-fix → zurück zu Phase 3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grün → commit · Sonnet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257800"/>
            <a:ext cx="109728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/clear zwischen den Phasen. Jede Phase: ein Input, ein Output (Datei). Phasen nicht überspringen.</a:t>
            </a:r>
          </a:p>
          <a:p>
            <a:pPr algn="l"/>
            <a:r>
              <a:rPr sz="1300" b="0">
                <a:solidFill>
                  <a:srgbClr val="8B98B0"/>
                </a:solidFill>
                <a:latin typeface="Calibri"/>
              </a:rPr>
              <a:t>Regel: „In Dateien speichern, nicht im Kopf behalten.“  research.md → plan.md → review.md.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017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CHEAT-SHEET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017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B98B0"/>
                </a:solidFill>
                <a:latin typeface="Calibri"/>
              </a:rPr>
              <a:t>10 /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6EDF8"/>
                </a:solidFill>
                <a:latin typeface="Calibri"/>
              </a:rPr>
              <a:t>§8 Cheat-Sheet — Command (1/2)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81328"/>
            <a:ext cx="201168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1155680" cy="4572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43200"/>
                <a:gridCol w="4023360"/>
                <a:gridCol w="4389120"/>
              </a:tblGrid>
              <a:tr h="5080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2D3EE"/>
                          </a:solidFill>
                          <a:latin typeface="Calibri"/>
                        </a:rPr>
                        <a:t>Situation</a:t>
                      </a:r>
                    </a:p>
                  </a:txBody>
                  <a:tcPr marT="36576" marB="36576" marL="73152" marR="73152">
                    <a:solidFill>
                      <a:srgbClr val="0E14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2D3EE"/>
                          </a:solidFill>
                          <a:latin typeface="Calibri"/>
                        </a:rPr>
                        <a:t>Command</a:t>
                      </a:r>
                    </a:p>
                  </a:txBody>
                  <a:tcPr marT="36576" marB="36576" marL="73152" marR="73152">
                    <a:solidFill>
                      <a:srgbClr val="0E14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2D3EE"/>
                          </a:solidFill>
                          <a:latin typeface="Calibri"/>
                        </a:rPr>
                        <a:t>Zweck</a:t>
                      </a:r>
                    </a:p>
                  </a:txBody>
                  <a:tcPr marT="36576" marB="36576" marL="73152" marR="73152">
                    <a:solidFill>
                      <a:srgbClr val="0E1424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Neues Feature planen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/plan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Anforderungen, Risiken, Schritte — wartet auf dein OK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Feature umsetzen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/feature-dev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nutzt Skills/Agents, TDD zuerst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Projekt ECC-ready machen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/ecc-onboard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Stack erkennen → 1× OK → Rules/Skills + PROJECT_RULES.md + state/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Codebase kartieren (1×)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/update-codemaps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token-arme Architektur-Karten in docs/CODEMAPS/ — statt neu suchen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Fremdes Repo verstehen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/update-codemaps · code-tour · smart-explore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Architektur kartieren, gefuehrte Touren, Struktur-Suche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Code geschrieben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/code-review  (+ /python-review, /go-review …)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Qualität + Security der Änderungen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Build/Tests rot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/build-fix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inkrementelle, minimale Fixes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Coverage / Qualität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/test-coverage  ·  /quality-gate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Lücken finden, Pipeline prüfen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017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CHEAT-SHEET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017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B98B0"/>
                </a:solidFill>
                <a:latin typeface="Calibri"/>
              </a:rPr>
              <a:t>11 /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6EDF8"/>
                </a:solidFill>
                <a:latin typeface="Calibri"/>
              </a:rPr>
              <a:t>§8 Cheat-Sheet — Command (2/2)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81328"/>
            <a:ext cx="201168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1155680" cy="4572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43200"/>
                <a:gridCol w="4023360"/>
                <a:gridCol w="4389120"/>
              </a:tblGrid>
              <a:tr h="5080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2D3EE"/>
                          </a:solidFill>
                          <a:latin typeface="Calibri"/>
                        </a:rPr>
                        <a:t>Situation</a:t>
                      </a:r>
                    </a:p>
                  </a:txBody>
                  <a:tcPr marT="36576" marB="36576" marL="73152" marR="73152">
                    <a:solidFill>
                      <a:srgbClr val="0E14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2D3EE"/>
                          </a:solidFill>
                          <a:latin typeface="Calibri"/>
                        </a:rPr>
                        <a:t>Command</a:t>
                      </a:r>
                    </a:p>
                  </a:txBody>
                  <a:tcPr marT="36576" marB="36576" marL="73152" marR="73152">
                    <a:solidFill>
                      <a:srgbClr val="0E14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2D3EE"/>
                          </a:solidFill>
                          <a:latin typeface="Calibri"/>
                        </a:rPr>
                        <a:t>Zweck</a:t>
                      </a:r>
                    </a:p>
                  </a:txBody>
                  <a:tcPr marT="36576" marB="36576" marL="73152" marR="73152">
                    <a:solidFill>
                      <a:srgbClr val="0E1424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Aufräumen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/refactor-clean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toter Code + lose Dateien raus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Library-Doku live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context7-MCP · docs-lookup-Agent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aktuelle API-Doku statt Halluzination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Session sichern/laden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/save-session  ·  /resume-session  ·  /sessions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über den Tag hinaus arbeiten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Checkpoint / Nebenfrage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/checkpoint  ·  /aside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Stand markieren / Kontext bewahren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Gelerntes extrahieren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/learn-eval → /evolve → /promote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Self-Improvement-Loop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Modell / Kosten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/model-route  ·  /cost-report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billigstes ausreichendes Modell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Harness prüfen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/harness-audit  ·  /ecc-guide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Config-Scorecard / Onboarding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Parallel / Loop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/multi-plan  ·  /loop-start  ·  /loop-status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mehrere Modelle / Automation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017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MCP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017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B98B0"/>
                </a:solidFill>
                <a:latin typeface="Calibri"/>
              </a:rPr>
              <a:t>12 /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6EDF8"/>
                </a:solidFill>
                <a:latin typeface="Calibri"/>
              </a:rPr>
              <a:t>§9 Wann welcher MCP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81328"/>
            <a:ext cx="201168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Faustregel: &lt; 10 MCPs aktiv / &lt; 80 Tools. Ungenutztes mit /mcp deaktivieren.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D3EE"/>
                </a:solidFill>
                <a:latin typeface="Calibri"/>
              </a:rPr>
              <a:t>● BEI DIR AKTIV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487168"/>
          <a:ext cx="11155680" cy="30632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108960"/>
                <a:gridCol w="2651760"/>
                <a:gridCol w="5394960"/>
              </a:tblGrid>
              <a:tr h="43760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Calibri"/>
                        </a:rPr>
                        <a:t>Aufgabe</a:t>
                      </a:r>
                    </a:p>
                  </a:txBody>
                  <a:tcPr marT="36576" marB="36576" marL="73152" marR="73152">
                    <a:solidFill>
                      <a:srgbClr val="0E14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Calibri"/>
                        </a:rPr>
                        <a:t>MCP / Tool</a:t>
                      </a:r>
                    </a:p>
                  </a:txBody>
                  <a:tcPr marT="36576" marB="36576" marL="73152" marR="73152">
                    <a:solidFill>
                      <a:srgbClr val="0E14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Calibri"/>
                        </a:rPr>
                        <a:t>Hinweis</a:t>
                      </a:r>
                    </a:p>
                  </a:txBody>
                  <a:tcPr marT="36576" marB="36576" marL="73152" marR="73152">
                    <a:solidFill>
                      <a:srgbClr val="0E1424"/>
                    </a:solidFill>
                  </a:tcPr>
                </a:tc>
              </a:tr>
              <a:tr h="437605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6EDF8"/>
                          </a:solidFill>
                          <a:latin typeface="Calibri"/>
                        </a:rPr>
                        <a:t>PDF/Word/Excel/PPTX lesen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6EDF8"/>
                          </a:solidFill>
                          <a:latin typeface="Calibri"/>
                        </a:rPr>
                        <a:t>markitdown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6EDF8"/>
                          </a:solidFill>
                          <a:latin typeface="Calibri"/>
                        </a:rPr>
                        <a:t>Dokumente → Markdown (lokal, global aktiv)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</a:tr>
              <a:tr h="437605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6EDF8"/>
                          </a:solidFill>
                          <a:latin typeface="Calibri"/>
                        </a:rPr>
                        <a:t>Aktuelle Library-/API-Doku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6EDF8"/>
                          </a:solidFill>
                          <a:latin typeface="Calibri"/>
                        </a:rPr>
                        <a:t>context7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6EDF8"/>
                          </a:solidFill>
                          <a:latin typeface="Calibri"/>
                        </a:rPr>
                        <a:t>React, Prisma, Next.js … statt veraltetem Wissen (Plugin)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</a:tr>
              <a:tr h="437605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6EDF8"/>
                          </a:solidFill>
                          <a:latin typeface="Calibri"/>
                        </a:rPr>
                        <a:t>Frühere Arbeit / „schon gelöst?“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6EDF8"/>
                          </a:solidFill>
                          <a:latin typeface="Calibri"/>
                        </a:rPr>
                        <a:t>claude-mem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6EDF8"/>
                          </a:solidFill>
                          <a:latin typeface="Calibri"/>
                        </a:rPr>
                        <a:t>deine Memory-Quelle: /mem-search, Auto-Injektion ab 2. Session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</a:tr>
              <a:tr h="437605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6EDF8"/>
                          </a:solidFill>
                          <a:latin typeface="Calibri"/>
                        </a:rPr>
                        <a:t>Kontext-Tooling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6EDF8"/>
                          </a:solidFill>
                          <a:latin typeface="Calibri"/>
                        </a:rPr>
                        <a:t>context-mode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6EDF8"/>
                          </a:solidFill>
                          <a:latin typeface="Calibri"/>
                        </a:rPr>
                        <a:t>lokaler MCP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</a:tr>
              <a:tr h="437605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6EDF8"/>
                          </a:solidFill>
                          <a:latin typeface="Calibri"/>
                        </a:rPr>
                        <a:t>Dienste anbinden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6EDF8"/>
                          </a:solidFill>
                          <a:latin typeface="Calibri"/>
                        </a:rPr>
                        <a:t>claude.ai-Connectoren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6EDF8"/>
                          </a:solidFill>
                          <a:latin typeface="Calibri"/>
                        </a:rPr>
                        <a:t>n8n · Notion · Gamma · Google Drive · Microsoft Learn · Kiwi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</a:tr>
              <a:tr h="43761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6EDF8"/>
                          </a:solidFill>
                          <a:latin typeface="Calibri"/>
                        </a:rPr>
                        <a:t>Bash-Token sparen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6EDF8"/>
                          </a:solidFill>
                          <a:latin typeface="Calibri"/>
                        </a:rPr>
                        <a:t>RTK (Hook, kein MCP)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E6EDF8"/>
                          </a:solidFill>
                          <a:latin typeface="Calibri"/>
                        </a:rPr>
                        <a:t>60–90 % Ersparnis, läuft transparent global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66928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8B98B0"/>
                </a:solidFill>
                <a:latin typeface="Calibri"/>
              </a:rPr>
              <a:t>Optional, NICHT installiert: exa · github (du: gh-CLI) · playwright · sequential-thinking.</a:t>
            </a:r>
          </a:p>
          <a:p>
            <a:pPr algn="l"/>
            <a:r>
              <a:rPr sz="1300" b="1">
                <a:solidFill>
                  <a:srgbClr val="FBBF24"/>
                </a:solidFill>
                <a:latin typeface="Calibri"/>
              </a:rPr>
              <a:t>„memory“-MCP (Wissensgraph) nicht nötig — claude-mem ist deine Memory-Quelle.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017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MODELLE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017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B98B0"/>
                </a:solidFill>
                <a:latin typeface="Calibri"/>
              </a:rPr>
              <a:t>13 /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6EDF8"/>
                </a:solidFill>
                <a:latin typeface="Calibri"/>
              </a:rPr>
              <a:t>§10 Token-Ökonomie &amp; Modellstrategie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81328"/>
            <a:ext cx="201168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566160" cy="338328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65960"/>
            <a:ext cx="3163824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22D3EE"/>
                </a:solidFill>
                <a:latin typeface="Calibri"/>
              </a:rPr>
              <a:t>HAIKU 4.5</a:t>
            </a:r>
          </a:p>
          <a:p>
            <a:pPr algn="l"/>
            <a:r>
              <a:rPr sz="1300" b="1">
                <a:solidFill>
                  <a:srgbClr val="E6EDF8"/>
                </a:solidFill>
                <a:latin typeface="Calibri"/>
              </a:rPr>
              <a:t>Worker-Agents</a:t>
            </a:r>
          </a:p>
          <a:p>
            <a:pPr algn="l"/>
            <a:r>
              <a:rPr sz="600" b="0">
                <a:solidFill>
                  <a:srgbClr val="E6EDF8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8B98B0"/>
                </a:solidFill>
                <a:latin typeface="Calibri"/>
              </a:rPr>
              <a:t>• Exploration / Suche</a:t>
            </a:r>
          </a:p>
          <a:p>
            <a:pPr algn="l"/>
            <a:r>
              <a:rPr sz="1200" b="0">
                <a:solidFill>
                  <a:srgbClr val="8B98B0"/>
                </a:solidFill>
                <a:latin typeface="Calibri"/>
              </a:rPr>
              <a:t>• viele günstige Parallel-Agents</a:t>
            </a:r>
          </a:p>
          <a:p>
            <a:pPr algn="l"/>
            <a:r>
              <a:rPr sz="1200" b="0">
                <a:solidFill>
                  <a:srgbClr val="8B98B0"/>
                </a:solidFill>
                <a:latin typeface="Calibri"/>
              </a:rPr>
              <a:t>• Doku-Struktur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783080"/>
            <a:ext cx="3566160" cy="338328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965960"/>
            <a:ext cx="3163824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18CF8"/>
                </a:solidFill>
                <a:latin typeface="Calibri"/>
              </a:rPr>
              <a:t>SONNET 4.6</a:t>
            </a:r>
          </a:p>
          <a:p>
            <a:pPr algn="l"/>
            <a:r>
              <a:rPr sz="1300" b="1">
                <a:solidFill>
                  <a:srgbClr val="E6EDF8"/>
                </a:solidFill>
                <a:latin typeface="Calibri"/>
              </a:rPr>
              <a:t>günstige Alternative</a:t>
            </a:r>
          </a:p>
          <a:p>
            <a:pPr algn="l"/>
            <a:r>
              <a:rPr sz="600" b="0">
                <a:solidFill>
                  <a:srgbClr val="E6EDF8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8B98B0"/>
                </a:solidFill>
                <a:latin typeface="Calibri"/>
              </a:rPr>
              <a:t>• einfache, gut definierte Edits</a:t>
            </a:r>
          </a:p>
          <a:p>
            <a:pPr algn="l"/>
            <a:r>
              <a:rPr sz="1200" b="0">
                <a:solidFill>
                  <a:srgbClr val="8B98B0"/>
                </a:solidFill>
                <a:latin typeface="Calibri"/>
              </a:rPr>
              <a:t>• PR-Review (Kontext)</a:t>
            </a:r>
          </a:p>
          <a:p>
            <a:pPr algn="l"/>
            <a:r>
              <a:rPr sz="1200" b="0">
                <a:solidFill>
                  <a:srgbClr val="8B98B0"/>
                </a:solidFill>
                <a:latin typeface="Calibri"/>
              </a:rPr>
              <a:t>• Doku schreiben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74736" y="1783080"/>
            <a:ext cx="3566160" cy="338328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5904" y="1965960"/>
            <a:ext cx="3163824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BBF24"/>
                </a:solidFill>
                <a:latin typeface="Calibri"/>
              </a:rPr>
              <a:t>OPUS 4.8 (1M)</a:t>
            </a:r>
          </a:p>
          <a:p>
            <a:pPr algn="l"/>
            <a:r>
              <a:rPr sz="1300" b="1">
                <a:solidFill>
                  <a:srgbClr val="E6EDF8"/>
                </a:solidFill>
                <a:latin typeface="Calibri"/>
              </a:rPr>
              <a:t>Standard / Default</a:t>
            </a:r>
          </a:p>
          <a:p>
            <a:pPr algn="l"/>
            <a:r>
              <a:rPr sz="600" b="0">
                <a:solidFill>
                  <a:srgbClr val="E6EDF8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8B98B0"/>
                </a:solidFill>
                <a:latin typeface="Calibri"/>
              </a:rPr>
              <a:t>• Standard-Coding / Multi-File (/fast)</a:t>
            </a:r>
          </a:p>
          <a:p>
            <a:pPr algn="l"/>
            <a:r>
              <a:rPr sz="1200" b="0">
                <a:solidFill>
                  <a:srgbClr val="8B98B0"/>
                </a:solidFill>
                <a:latin typeface="Calibri"/>
              </a:rPr>
              <a:t>• komplexe Architektur (effort high)</a:t>
            </a:r>
          </a:p>
          <a:p>
            <a:pPr algn="l"/>
            <a:r>
              <a:rPr sz="1200" b="0">
                <a:solidFill>
                  <a:srgbClr val="8B98B0"/>
                </a:solidFill>
                <a:latin typeface="Calibri"/>
              </a:rPr>
              <a:t>• Security-Analyse · komplexe Bugs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40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B0"/>
                </a:solidFill>
                <a:latin typeface="Calibri"/>
              </a:rPr>
              <a:t>Effort medium Standard / high bei Architektur+Security · /model-route · /cost-report · Auto-Compact aus.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017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MEMORY &amp; LERNEN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017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B98B0"/>
                </a:solidFill>
                <a:latin typeface="Calibri"/>
              </a:rPr>
              <a:t>14 /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6EDF8"/>
                </a:solidFill>
                <a:latin typeface="Calibri"/>
              </a:rPr>
              <a:t>§11–12 Memory, Sessions &amp; Continuous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81328"/>
            <a:ext cx="201168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83080"/>
          <a:ext cx="10972800" cy="274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937760"/>
                <a:gridCol w="603504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2D3EE"/>
                          </a:solidFill>
                          <a:latin typeface="Calibri"/>
                        </a:rPr>
                        <a:t>Command</a:t>
                      </a:r>
                    </a:p>
                  </a:txBody>
                  <a:tcPr marT="36576" marB="36576" marL="73152" marR="73152">
                    <a:solidFill>
                      <a:srgbClr val="0E14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2D3EE"/>
                          </a:solidFill>
                          <a:latin typeface="Calibri"/>
                        </a:rPr>
                        <a:t>Zweck</a:t>
                      </a:r>
                    </a:p>
                  </a:txBody>
                  <a:tcPr marT="36576" marB="36576" marL="73152" marR="73152">
                    <a:solidFill>
                      <a:srgbClr val="0E142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6EDF8"/>
                          </a:solidFill>
                          <a:latin typeface="Calibri"/>
                        </a:rPr>
                        <a:t>/save-session · /resume-session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6EDF8"/>
                          </a:solidFill>
                          <a:latin typeface="Calibri"/>
                        </a:rPr>
                        <a:t>Tag-zu-Tag-Fortschritt persistieren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6EDF8"/>
                          </a:solidFill>
                          <a:latin typeface="Calibri"/>
                        </a:rPr>
                        <a:t>/sessions · /checkpoint · /aside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6EDF8"/>
                          </a:solidFill>
                          <a:latin typeface="Calibri"/>
                        </a:rPr>
                        <a:t>Historie · Checkpoint · Nebenfrage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6EDF8"/>
                          </a:solidFill>
                          <a:latin typeface="Calibri"/>
                        </a:rPr>
                        <a:t>/learn-eval → /evolve → /promote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6EDF8"/>
                          </a:solidFill>
                          <a:latin typeface="Calibri"/>
                        </a:rPr>
                        <a:t>Self-Improvement-Loop (Instincts)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6EDF8"/>
                          </a:solidFill>
                          <a:latin typeface="Calibri"/>
                        </a:rPr>
                        <a:t>/instinct-status · /skill-create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6EDF8"/>
                          </a:solidFill>
                          <a:latin typeface="Calibri"/>
                        </a:rPr>
                        <a:t>Instincts zeigen · Skill aus Git-History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754880"/>
            <a:ext cx="109728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E6EDF8"/>
                </a:solidFill>
                <a:latin typeface="Calibri"/>
              </a:rPr>
              <a:t>claude-mem = deine Memory-Quelle: Auto-Injektion ab 2. Session · /mem-search für frühere Arbeit.</a:t>
            </a:r>
          </a:p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EINE primäre Memory-Quelle je Projekt — kein zusätzlicher memory-MCP. Keine Secrets in Memory.</a:t>
            </a:r>
          </a:p>
          <a:p>
            <a:pPr algn="l"/>
            <a:r>
              <a:rPr sz="1300" b="0">
                <a:solidFill>
                  <a:srgbClr val="818CF8"/>
                </a:solidFill>
                <a:latin typeface="Calibri"/>
              </a:rPr>
              <a:t>Routine: Session-Ende → /learn-eval → /evolve → /promote.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017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PARALLEL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017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B98B0"/>
                </a:solidFill>
                <a:latin typeface="Calibri"/>
              </a:rPr>
              <a:t>15 /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6EDF8"/>
                </a:solidFill>
                <a:latin typeface="Calibri"/>
              </a:rPr>
              <a:t>§13 Parallelisierung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81328"/>
            <a:ext cx="201168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166360" cy="137160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920240"/>
            <a:ext cx="4800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Calibri"/>
              </a:rPr>
              <a:t>/fork</a:t>
            </a:r>
          </a:p>
          <a:p>
            <a:pPr algn="l"/>
            <a:r>
              <a:rPr sz="1150" b="0">
                <a:solidFill>
                  <a:srgbClr val="8B98B0"/>
                </a:solidFill>
                <a:latin typeface="Calibri"/>
              </a:rPr>
              <a:t>Konversation forken für nicht-überlappende Nebenaufgaben (Codebase-Fragen).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783080"/>
            <a:ext cx="5166360" cy="137160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4800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Calibri"/>
              </a:rPr>
              <a:t>Git-Worktrees</a:t>
            </a:r>
          </a:p>
          <a:p>
            <a:pPr algn="l"/>
            <a:r>
              <a:rPr sz="1150" b="0">
                <a:solidFill>
                  <a:srgbClr val="8B98B0"/>
                </a:solidFill>
                <a:latin typeface="Calibri"/>
              </a:rPr>
              <a:t>überlappende parallele Arbeit ohne Konflikte — eigene Claude-Instanz je Worktree.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37560"/>
            <a:ext cx="5166360" cy="137160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3474720"/>
            <a:ext cx="4800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Calibri"/>
              </a:rPr>
              <a:t>Cascade-Methode</a:t>
            </a:r>
          </a:p>
          <a:p>
            <a:pPr algn="l"/>
            <a:r>
              <a:rPr sz="1150" b="0">
                <a:solidFill>
                  <a:srgbClr val="8B98B0"/>
                </a:solidFill>
                <a:latin typeface="Calibri"/>
              </a:rPr>
              <a:t>neue Tasks in neuen Tabs, alt→neu abarbeiten, max. 3–4 gleichzeitig.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337560"/>
            <a:ext cx="5166360" cy="137160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474720"/>
            <a:ext cx="4800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22D3EE"/>
                </a:solidFill>
                <a:latin typeface="Calibri"/>
              </a:rPr>
              <a:t>ECC-Multi-Model</a:t>
            </a:r>
          </a:p>
          <a:p>
            <a:pPr algn="l"/>
            <a:r>
              <a:rPr sz="1150" b="0">
                <a:solidFill>
                  <a:srgbClr val="8B98B0"/>
                </a:solidFill>
                <a:latin typeface="Calibri"/>
              </a:rPr>
              <a:t>/multi-plan · /multi-workflow · /multi-backend · /multi-frontend · /loop-start.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937760"/>
            <a:ext cx="10927080" cy="96012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0749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9CE3F0"/>
                </a:solidFill>
                <a:latin typeface="Consolas"/>
              </a:rPr>
              <a:t>git worktree add ../feature-a feature-a &amp;&amp; cd ../feature-a &amp;&amp; claude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017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017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B98B0"/>
                </a:solidFill>
                <a:latin typeface="Calibri"/>
              </a:rPr>
              <a:t>16 /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6EDF8"/>
                </a:solidFill>
                <a:latin typeface="Calibri"/>
              </a:rPr>
              <a:t>§14 Security im Alltag + VPS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81328"/>
            <a:ext cx="201168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349240" cy="338328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493776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34D399"/>
                </a:solidFill>
                <a:latin typeface="Calibri"/>
              </a:rPr>
              <a:t>Aktiv / sicher</a:t>
            </a:r>
          </a:p>
          <a:p>
            <a:pPr algn="l"/>
            <a:r>
              <a:rPr sz="400" b="0">
                <a:solidFill>
                  <a:srgbClr val="E6EDF8"/>
                </a:solidFill>
                <a:latin typeface="Calibri"/>
              </a:rPr>
              <a:t/>
            </a:r>
          </a:p>
          <a:p>
            <a:pPr algn="l"/>
            <a:r>
              <a:rPr sz="1250" b="1">
                <a:solidFill>
                  <a:srgbClr val="E6EDF8"/>
                </a:solidFill>
                <a:latin typeface="Calibri"/>
              </a:rPr>
              <a:t>RTK-Hook</a:t>
            </a:r>
          </a:p>
          <a:p>
            <a:pPr lvl="1" algn="l"/>
            <a:r>
              <a:rPr sz="1100" b="0">
                <a:solidFill>
                  <a:srgbClr val="8B98B0"/>
                </a:solidFill>
                <a:latin typeface="Calibri"/>
              </a:rPr>
              <a:t>PreToolUse:Bash bleibt unangetastet — Token-Ersparnis global.</a:t>
            </a:r>
          </a:p>
          <a:p>
            <a:pPr algn="l"/>
            <a:r>
              <a:rPr sz="1250" b="1">
                <a:solidFill>
                  <a:srgbClr val="E6EDF8"/>
                </a:solidFill>
                <a:latin typeface="Calibri"/>
              </a:rPr>
              <a:t>ECC namespace-sicher</a:t>
            </a:r>
          </a:p>
          <a:p>
            <a:pPr lvl="1" algn="l"/>
            <a:r>
              <a:rPr sz="1100" b="0">
                <a:solidFill>
                  <a:srgbClr val="8B98B0"/>
                </a:solidFill>
                <a:latin typeface="Calibri"/>
              </a:rPr>
              <a:t>rules/ecc/, skills/ecc/ — keine Kollision mit Eigenem.</a:t>
            </a:r>
          </a:p>
          <a:p>
            <a:pPr algn="l"/>
            <a:r>
              <a:rPr sz="1250" b="1">
                <a:solidFill>
                  <a:srgbClr val="E6EDF8"/>
                </a:solidFill>
                <a:latin typeface="Calibri"/>
              </a:rPr>
              <a:t>settings.json unberührt</a:t>
            </a:r>
          </a:p>
          <a:p>
            <a:pPr lvl="1" algn="l"/>
            <a:r>
              <a:rPr sz="1100" b="0">
                <a:solidFill>
                  <a:srgbClr val="8B98B0"/>
                </a:solidFill>
                <a:latin typeface="Calibri"/>
              </a:rPr>
              <a:t>kein Auto-Edit der Startup-Config; nur additiv via ./install-vps.sh --harden.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303520" cy="3383280"/>
          </a:xfrm>
          <a:prstGeom prst="roundRect">
            <a:avLst>
              <a:gd name="adj" fmla="val 6000"/>
            </a:avLst>
          </a:prstGeom>
          <a:solidFill>
            <a:srgbClr val="141A2E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65960"/>
            <a:ext cx="489204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BBF24"/>
                </a:solidFill>
                <a:latin typeface="Calibri"/>
              </a:rPr>
              <a:t>Bewusst opt-in</a:t>
            </a:r>
          </a:p>
          <a:p>
            <a:pPr algn="l"/>
            <a:r>
              <a:rPr sz="400" b="0">
                <a:solidFill>
                  <a:srgbClr val="E6EDF8"/>
                </a:solidFill>
                <a:latin typeface="Calibri"/>
              </a:rPr>
              <a:t/>
            </a:r>
          </a:p>
          <a:p>
            <a:pPr algn="l"/>
            <a:r>
              <a:rPr sz="1250" b="1">
                <a:solidFill>
                  <a:srgbClr val="E6EDF8"/>
                </a:solidFill>
                <a:latin typeface="Calibri"/>
              </a:rPr>
              <a:t>ECC-Hooks INAKTIV</a:t>
            </a:r>
          </a:p>
          <a:p>
            <a:pPr lvl="1" algn="l"/>
            <a:r>
              <a:rPr sz="1100" b="0">
                <a:solidFill>
                  <a:srgbClr val="8B98B0"/>
                </a:solidFill>
                <a:latin typeface="Calibri"/>
              </a:rPr>
              <a:t>Repo-kontrollierte Hooks nicht blind aktiv. Bewusst aktivieren nach Sichtung von hooks.json.</a:t>
            </a:r>
          </a:p>
          <a:p>
            <a:pPr algn="l"/>
            <a:r>
              <a:rPr sz="1250" b="1">
                <a:solidFill>
                  <a:srgbClr val="E6EDF8"/>
                </a:solidFill>
                <a:latin typeface="Calibri"/>
              </a:rPr>
              <a:t>deny-Baseline opt-in</a:t>
            </a:r>
          </a:p>
          <a:p>
            <a:pPr lvl="1" algn="l"/>
            <a:r>
              <a:rPr sz="1100" b="0">
                <a:solidFill>
                  <a:srgbClr val="8B98B0"/>
                </a:solidFill>
                <a:latin typeface="Calibri"/>
              </a:rPr>
              <a:t>./install-vps.sh --harden ergänzt rm -rf / force-push / Secret-Reads (mit Backup).</a:t>
            </a:r>
          </a:p>
          <a:p>
            <a:pPr algn="l"/>
            <a:r>
              <a:rPr sz="1250" b="1">
                <a:solidFill>
                  <a:srgbClr val="E6EDF8"/>
                </a:solidFill>
                <a:latin typeface="Calibri"/>
              </a:rPr>
              <a:t>AgentShield</a:t>
            </a:r>
          </a:p>
          <a:p>
            <a:pPr lvl="1" algn="l"/>
            <a:r>
              <a:rPr sz="1100" b="0">
                <a:solidFill>
                  <a:srgbClr val="8B98B0"/>
                </a:solidFill>
                <a:latin typeface="Calibri"/>
              </a:rPr>
              <a:t>npx ecc-agentshield scan lädt externes Paket — selbst vetten, dann ausführen.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492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8B0"/>
                </a:solidFill>
                <a:latin typeface="Calibri"/>
              </a:rPr>
              <a:t>VPS-weit: ECC global → Hooks bleiben inaktiv bis zur bewussten Aktivierung. Härtung: ./install-vps.sh --harden (mit settings.json-Backup).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017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CLIS &amp; WARTUNG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017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B98B0"/>
                </a:solidFill>
                <a:latin typeface="Calibri"/>
              </a:rPr>
              <a:t>17 /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6EDF8"/>
                </a:solidFill>
                <a:latin typeface="Calibri"/>
              </a:rPr>
              <a:t>§15 ECC-CLIs &amp; Wartung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81328"/>
            <a:ext cx="201168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292608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CE3F0"/>
                </a:solidFill>
                <a:latin typeface="Consolas"/>
              </a:rPr>
              <a:t>node scripts/ecc.js doctor          # Health-Check (claude-home: OK)</a:t>
            </a:r>
          </a:p>
          <a:p>
            <a:pPr algn="l"/>
            <a:r>
              <a:rPr sz="1300" b="0">
                <a:solidFill>
                  <a:srgbClr val="9CE3F0"/>
                </a:solidFill>
                <a:latin typeface="Consolas"/>
              </a:rPr>
              <a:t>node scripts/ecc.js list-installed   # was ist installiert</a:t>
            </a:r>
          </a:p>
          <a:p>
            <a:pPr algn="l"/>
            <a:r>
              <a:rPr sz="1300" b="0">
                <a:solidFill>
                  <a:srgbClr val="9CE3F0"/>
                </a:solidFill>
                <a:latin typeface="Consolas"/>
              </a:rPr>
              <a:t>node scripts/ecc.js repair           # ECC-Dateien wiederherstellen</a:t>
            </a:r>
          </a:p>
          <a:p>
            <a:pPr algn="l"/>
            <a:r>
              <a:rPr sz="1300" b="0">
                <a:solidFill>
                  <a:srgbClr val="9CE3F0"/>
                </a:solidFill>
                <a:latin typeface="Consolas"/>
              </a:rPr>
              <a:t>npx ecc consult "security reviews"   # Advisor: welche Komponenten?</a:t>
            </a:r>
          </a:p>
          <a:p>
            <a:pPr algn="l"/>
            <a:r>
              <a:rPr sz="1300" b="0">
                <a:solidFill>
                  <a:srgbClr val="9CE3F0"/>
                </a:solidFill>
                <a:latin typeface="Consolas"/>
              </a:rPr>
              <a:t>./install-vps.sh                     # Re-Install / Update VPS-weit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18CF8"/>
                </a:solidFill>
                <a:latin typeface="Calibri"/>
              </a:rPr>
              <a:t>Slash-Einstieg:  /ecc-guide · /harness-audit · /cost-report · /skill-health · /projects.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017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HYBRID-LOOP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017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B98B0"/>
                </a:solidFill>
                <a:latin typeface="Calibri"/>
              </a:rPr>
              <a:t>18 /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6EDF8"/>
                </a:solidFill>
                <a:latin typeface="Calibri"/>
              </a:rPr>
              <a:t>§16 Hybrid-Mega-Workflow — State-Sync + RPI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81328"/>
            <a:ext cx="201168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state/ ist die Wahrheit · WORKING-CONTEXT.md ist ihr generiertes Spiegelbild für den Loop.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10927080" cy="1600200"/>
          </a:xfrm>
          <a:prstGeom prst="roundRect">
            <a:avLst>
              <a:gd name="adj" fmla="val 6000"/>
            </a:avLst>
          </a:prstGeom>
          <a:solidFill>
            <a:srgbClr val="0E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104241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CE3F0"/>
                </a:solidFill>
                <a:latin typeface="Consolas"/>
              </a:rPr>
              <a:t>state/*.md   --PRE (SessionStart)--&gt;   WORKING-CONTEXT.md   (Loop: liest STATE:*, fuellt SYNC:*)</a:t>
            </a:r>
          </a:p>
          <a:p>
            <a:pPr algn="l"/>
            <a:r>
              <a:rPr sz="1200" b="0">
                <a:solidFill>
                  <a:srgbClr val="9CE3F0"/>
                </a:solidFill>
                <a:latin typeface="Consolas"/>
              </a:rPr>
              <a:t>WORKING-CONTEXT.md   --POST (Stop/PreCompact)--&gt;   state/progress.md + tasks.md   (nur Delta)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776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18CF8"/>
                </a:solidFill>
                <a:latin typeface="Calibri"/>
              </a:rPr>
              <a:t>/mega-plan — RPI-Berater PARALLEL (read-only) → Briefing → /plan: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4343400"/>
          <a:ext cx="10972800" cy="14173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94560"/>
                <a:gridCol w="8778240"/>
              </a:tblGrid>
              <a:tr h="28346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2D3EE"/>
                          </a:solidFill>
                          <a:latin typeface="Calibri"/>
                        </a:rPr>
                        <a:t>Berater</a:t>
                      </a:r>
                    </a:p>
                  </a:txBody>
                  <a:tcPr marT="36576" marB="36576" marL="73152" marR="73152">
                    <a:solidFill>
                      <a:srgbClr val="0E14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2D3EE"/>
                          </a:solidFill>
                          <a:latin typeface="Calibri"/>
                        </a:rPr>
                        <a:t>Perspektive</a:t>
                      </a:r>
                    </a:p>
                  </a:txBody>
                  <a:tcPr marT="36576" marB="36576" marL="73152" marR="73152">
                    <a:solidFill>
                      <a:srgbClr val="0E1424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Intake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Anforderungen · Constraints · offene Fragen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CTO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Technik-Strategie · Architektur-Fit · Risiko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Product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Scope · Requirements · Akzeptanzkriterien</a:t>
                      </a:r>
                    </a:p>
                  </a:txBody>
                  <a:tcPr marT="36576" marB="36576" marL="73152" marR="73152">
                    <a:solidFill>
                      <a:srgbClr val="141A2E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UX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E6EDF8"/>
                          </a:solidFill>
                          <a:latin typeface="Calibri"/>
                        </a:rPr>
                        <a:t>Flows · States · Accessibility</a:t>
                      </a:r>
                    </a:p>
                  </a:txBody>
                  <a:tcPr marT="36576" marB="36576" marL="73152" marR="73152">
                    <a:solidFill>
                      <a:srgbClr val="0A0E1A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" y="5943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8B98B0"/>
                </a:solidFill>
                <a:latin typeface="Calibri"/>
              </a:rPr>
              <a:t>Additiv — ECC-Core (ecc/) unberührt · Garantien: Marker · atomar · idempotent · selftest (7 Checks).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017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QUELLEN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017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8B98B0"/>
                </a:solidFill>
                <a:latin typeface="Calibri"/>
              </a:rPr>
              <a:t>19 /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E6EDF8"/>
                </a:solidFill>
                <a:latin typeface="Calibri"/>
              </a:rPr>
              <a:t>Quellen &amp; TL;DR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81328"/>
            <a:ext cx="201168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728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Calibri"/>
              </a:rPr>
              <a:t>Guides von @affaanmustafa (X-Threads; lokal unter ecc/):</a:t>
            </a:r>
          </a:p>
          <a:p>
            <a:pPr algn="l"/>
            <a:r>
              <a:rPr sz="1150" b="0">
                <a:solidFill>
                  <a:srgbClr val="E6EDF8"/>
                </a:solidFill>
                <a:latin typeface="Calibri"/>
              </a:rPr>
              <a:t>Shortform: https://x.com/affaanmustafa/status/2012378465664745795</a:t>
            </a:r>
          </a:p>
          <a:p>
            <a:pPr algn="l"/>
            <a:r>
              <a:rPr sz="1150" b="0">
                <a:solidFill>
                  <a:srgbClr val="E6EDF8"/>
                </a:solidFill>
                <a:latin typeface="Calibri"/>
              </a:rPr>
              <a:t>Longform:  https://x.com/affaanmustafa/status/2014040193557471352</a:t>
            </a:r>
          </a:p>
          <a:p>
            <a:pPr algn="l"/>
            <a:r>
              <a:rPr sz="1150" b="0">
                <a:solidFill>
                  <a:srgbClr val="E6EDF8"/>
                </a:solidFill>
                <a:latin typeface="Calibri"/>
              </a:rPr>
              <a:t>Security:  https://x.com/affaanmustafa/status/2033263813387223421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1097280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2D3EE"/>
                </a:solidFill>
                <a:latin typeface="Calibri"/>
              </a:rPr>
              <a:t>TL;DR — wie der Erfinder:</a:t>
            </a:r>
          </a:p>
          <a:p>
            <a:pPr algn="l"/>
            <a:r>
              <a:rPr sz="1300" b="0">
                <a:solidFill>
                  <a:srgbClr val="E6EDF8"/>
                </a:solidFill>
                <a:latin typeface="Calibri"/>
              </a:rPr>
              <a:t>1. In Phasen: Research → /plan → /feature-dev+TDD → /code-review → Verify.</a:t>
            </a:r>
          </a:p>
          <a:p>
            <a:pPr algn="l"/>
            <a:r>
              <a:rPr sz="1300" b="0">
                <a:solidFill>
                  <a:srgbClr val="E6EDF8"/>
                </a:solidFill>
                <a:latin typeface="Calibri"/>
              </a:rPr>
              <a:t>2. Kontext sauber: &lt;10 MCPs, billigstes Modell, modulare Dateien, strategisch compacten.</a:t>
            </a:r>
          </a:p>
          <a:p>
            <a:pPr algn="l"/>
            <a:r>
              <a:rPr sz="1300" b="0">
                <a:solidFill>
                  <a:srgbClr val="E6EDF8"/>
                </a:solidFill>
                <a:latin typeface="Calibri"/>
              </a:rPr>
              <a:t>3. Persistieren: /save-session · /resume-session.</a:t>
            </a:r>
          </a:p>
          <a:p>
            <a:pPr algn="l"/>
            <a:r>
              <a:rPr sz="1300" b="0">
                <a:solidFill>
                  <a:srgbClr val="E6EDF8"/>
                </a:solidFill>
                <a:latin typeface="Calibri"/>
              </a:rPr>
              <a:t>4. Lernen: /learn-eval → /evolve → /promote.</a:t>
            </a:r>
          </a:p>
          <a:p>
            <a:pPr algn="l"/>
            <a:r>
              <a:rPr sz="1300" b="0">
                <a:solidFill>
                  <a:srgbClr val="E6EDF8"/>
                </a:solidFill>
                <a:latin typeface="Calibri"/>
              </a:rPr>
              <a:t>5. Security zuerst: RTK aktiv, Hooks/AgentShield bewusst, nie blind ausführen.</a:t>
            </a:r>
          </a:p>
          <a:p>
            <a:pPr algn="l"/>
            <a:r>
              <a:rPr sz="1300" b="0">
                <a:solidFill>
                  <a:srgbClr val="E6EDF8"/>
                </a:solidFill>
                <a:latin typeface="Calibri"/>
              </a:rPr>
              <a:t>6. Unsicher? /ecc-guide · ecc doctor · die drei Original-Guides.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Aktivierungs-Status (Stand 2026-06-05)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State-Sync aktiv (Variante A, projekt-lokal): SessionStart-&gt;pre, Stop/PreCompact-&gt;post; WORKING-CONTEXT.md wird aus state/ gespiegelt; ecc/-Guard unberuehrt.</a:t>
            </a:r>
          </a:p>
          <a:p>
            <a:r>
              <a:t>Globale ecc-onboard.md-Drift behoben (6,3K -&gt; 13K, mit State-Sync-Verdrahtung + consumer-scaffold).</a:t>
            </a:r>
          </a:p>
          <a:p>
            <a:r>
              <a:t>Extras global gelayert: rpi-Advisors, attribution-policy.md, contexts/dev+review; install-vps.sh deployt das kuenftig automatisch.</a:t>
            </a:r>
          </a:p>
          <a:p>
            <a:r>
              <a:t>Unberuehrt: ECC-Core (git status -- ecc/ leer), RTK-Hook (PreToolUse:Bash), globale ECC-Lifecycle-Hooks.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